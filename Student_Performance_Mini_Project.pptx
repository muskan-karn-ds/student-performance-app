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ACFCA41-7221-4674-B144-DCA2F1B7582E}">
  <a:tblStyle styleId="{DACFCA41-7221-4674-B144-DCA2F1B7582E}"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 name="Google Shape;3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 name="Google Shape;3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 name="Google Shape;6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 name="Google Shape;8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 name="Google Shape;13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9" name="Google Shape;17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4" name="Google Shape;19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295C"/>
        </a:solidFill>
      </p:bgPr>
    </p:bg>
    <p:spTree>
      <p:nvGrpSpPr>
        <p:cNvPr id="15" name="Shape 15"/>
        <p:cNvGrpSpPr/>
        <p:nvPr/>
      </p:nvGrpSpPr>
      <p:grpSpPr>
        <a:xfrm>
          <a:off x="0" y="0"/>
          <a:ext cx="0" cy="0"/>
          <a:chOff x="0" y="0"/>
          <a:chExt cx="0" cy="0"/>
        </a:xfrm>
      </p:grpSpPr>
      <p:sp>
        <p:nvSpPr>
          <p:cNvPr id="16" name="Google Shape;16;p3"/>
          <p:cNvSpPr/>
          <p:nvPr/>
        </p:nvSpPr>
        <p:spPr>
          <a:xfrm>
            <a:off x="10424160" y="-1463040"/>
            <a:ext cx="3108960" cy="3108960"/>
          </a:xfrm>
          <a:prstGeom prst="ellipse">
            <a:avLst/>
          </a:prstGeom>
          <a:solidFill>
            <a:srgbClr val="1C7293">
              <a:alpha val="1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3"/>
          <p:cNvSpPr/>
          <p:nvPr/>
        </p:nvSpPr>
        <p:spPr>
          <a:xfrm>
            <a:off x="-1097280" y="5669280"/>
            <a:ext cx="2194560" cy="2194560"/>
          </a:xfrm>
          <a:prstGeom prst="ellipse">
            <a:avLst/>
          </a:prstGeom>
          <a:solidFill>
            <a:srgbClr val="CFE3EE">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3"/>
          <p:cNvSpPr/>
          <p:nvPr/>
        </p:nvSpPr>
        <p:spPr>
          <a:xfrm>
            <a:off x="914400" y="1691640"/>
            <a:ext cx="10360152" cy="36576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Calibri"/>
              <a:buNone/>
            </a:pPr>
            <a:r>
              <a:rPr b="1" i="0" lang="en-US" sz="2700" u="none" cap="none" strike="noStrike">
                <a:solidFill>
                  <a:srgbClr val="FFFFFF"/>
                </a:solidFill>
                <a:latin typeface="Calibri"/>
                <a:ea typeface="Calibri"/>
                <a:cs typeface="Calibri"/>
                <a:sym typeface="Calibri"/>
              </a:rPr>
              <a:t>LLOYD INSTITUTE OF ENGINEERING &amp; TECHNOLOGY</a:t>
            </a:r>
            <a:endParaRPr b="0" i="0" sz="2700" u="none" cap="none" strike="noStrike">
              <a:solidFill>
                <a:schemeClr val="dk1"/>
              </a:solidFill>
              <a:latin typeface="Calibri"/>
              <a:ea typeface="Calibri"/>
              <a:cs typeface="Calibri"/>
              <a:sym typeface="Calibri"/>
            </a:endParaRPr>
          </a:p>
        </p:txBody>
      </p:sp>
      <p:sp>
        <p:nvSpPr>
          <p:cNvPr id="19" name="Google Shape;19;p3"/>
          <p:cNvSpPr/>
          <p:nvPr/>
        </p:nvSpPr>
        <p:spPr>
          <a:xfrm>
            <a:off x="914400" y="2114821"/>
            <a:ext cx="10360200" cy="274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FE3EE"/>
              </a:buClr>
              <a:buSzPts val="1250"/>
              <a:buFont typeface="Calibri"/>
              <a:buNone/>
            </a:pPr>
            <a:r>
              <a:rPr b="0" i="0" lang="en-US" sz="1650" u="none" cap="none" strike="noStrike">
                <a:solidFill>
                  <a:srgbClr val="CFE3EE"/>
                </a:solidFill>
                <a:latin typeface="Calibri"/>
                <a:ea typeface="Calibri"/>
                <a:cs typeface="Calibri"/>
                <a:sym typeface="Calibri"/>
              </a:rPr>
              <a:t>Greater Noida  |  Department of Computer Science &amp; Engineering</a:t>
            </a:r>
            <a:endParaRPr b="0" i="0" sz="1650" u="none" cap="none" strike="noStrike">
              <a:solidFill>
                <a:schemeClr val="dk1"/>
              </a:solidFill>
              <a:latin typeface="Calibri"/>
              <a:ea typeface="Calibri"/>
              <a:cs typeface="Calibri"/>
              <a:sym typeface="Calibri"/>
            </a:endParaRPr>
          </a:p>
        </p:txBody>
      </p:sp>
      <p:sp>
        <p:nvSpPr>
          <p:cNvPr id="20" name="Google Shape;20;p3"/>
          <p:cNvSpPr/>
          <p:nvPr/>
        </p:nvSpPr>
        <p:spPr>
          <a:xfrm>
            <a:off x="914400" y="2715775"/>
            <a:ext cx="10360200" cy="320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FB6CE"/>
              </a:buClr>
              <a:buSzPts val="1200"/>
              <a:buFont typeface="Calibri"/>
              <a:buNone/>
            </a:pPr>
            <a:r>
              <a:rPr b="1" i="0" lang="en-US" sz="2000" u="none" cap="none" strike="noStrike">
                <a:solidFill>
                  <a:srgbClr val="6FB6CE"/>
                </a:solidFill>
                <a:latin typeface="Calibri"/>
                <a:ea typeface="Calibri"/>
                <a:cs typeface="Calibri"/>
                <a:sym typeface="Calibri"/>
              </a:rPr>
              <a:t>B.TECH </a:t>
            </a:r>
            <a:r>
              <a:rPr b="1" lang="en-US" sz="2000">
                <a:solidFill>
                  <a:srgbClr val="6FB6CE"/>
                </a:solidFill>
                <a:latin typeface="Calibri"/>
                <a:ea typeface="Calibri"/>
                <a:cs typeface="Calibri"/>
                <a:sym typeface="Calibri"/>
              </a:rPr>
              <a:t>THIRD</a:t>
            </a:r>
            <a:r>
              <a:rPr b="1" i="0" lang="en-US" sz="2000" u="none" cap="none" strike="noStrike">
                <a:solidFill>
                  <a:srgbClr val="6FB6CE"/>
                </a:solidFill>
                <a:latin typeface="Calibri"/>
                <a:ea typeface="Calibri"/>
                <a:cs typeface="Calibri"/>
                <a:sym typeface="Calibri"/>
              </a:rPr>
              <a:t> YEAR M</a:t>
            </a:r>
            <a:r>
              <a:rPr b="1" lang="en-US" sz="2000">
                <a:solidFill>
                  <a:srgbClr val="6FB6CE"/>
                </a:solidFill>
                <a:latin typeface="Calibri"/>
                <a:ea typeface="Calibri"/>
                <a:cs typeface="Calibri"/>
                <a:sym typeface="Calibri"/>
              </a:rPr>
              <a:t>INI</a:t>
            </a:r>
            <a:r>
              <a:rPr b="1" i="0" lang="en-US" sz="2000" u="none" cap="none" strike="noStrike">
                <a:solidFill>
                  <a:srgbClr val="6FB6CE"/>
                </a:solidFill>
                <a:latin typeface="Calibri"/>
                <a:ea typeface="Calibri"/>
                <a:cs typeface="Calibri"/>
                <a:sym typeface="Calibri"/>
              </a:rPr>
              <a:t> PROJECT</a:t>
            </a:r>
            <a:r>
              <a:rPr b="1" lang="en-US" sz="2000">
                <a:solidFill>
                  <a:srgbClr val="6FB6CE"/>
                </a:solidFill>
                <a:latin typeface="Calibri"/>
                <a:ea typeface="Calibri"/>
                <a:cs typeface="Calibri"/>
                <a:sym typeface="Calibri"/>
              </a:rPr>
              <a:t/>
            </a:r>
            <a:endParaRPr b="0" i="0" sz="2000" u="none" cap="none" strike="noStrike">
              <a:solidFill>
                <a:schemeClr val="dk1"/>
              </a:solidFill>
              <a:latin typeface="Calibri"/>
              <a:ea typeface="Calibri"/>
              <a:cs typeface="Calibri"/>
              <a:sym typeface="Calibri"/>
            </a:endParaRPr>
          </a:p>
        </p:txBody>
      </p:sp>
      <p:sp>
        <p:nvSpPr>
          <p:cNvPr id="21" name="Google Shape;21;p3"/>
          <p:cNvSpPr/>
          <p:nvPr/>
        </p:nvSpPr>
        <p:spPr>
          <a:xfrm>
            <a:off x="1280160" y="3200400"/>
            <a:ext cx="9628632" cy="1371600"/>
          </a:xfrm>
          <a:prstGeom prst="roundRect">
            <a:avLst>
              <a:gd fmla="val 8000" name="adj"/>
            </a:avLst>
          </a:pr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3"/>
          <p:cNvSpPr/>
          <p:nvPr/>
        </p:nvSpPr>
        <p:spPr>
          <a:xfrm>
            <a:off x="1463040" y="3200400"/>
            <a:ext cx="9262872" cy="1371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2800" b="1" i="0" u="none" cap="none" strike="noStrike">
                <a:solidFill>
                  <a:srgbClr val="FFFFFF"/>
                </a:solidFill>
                <a:latin typeface="Calibri"/>
                <a:ea typeface="Calibri"/>
                <a:cs typeface="Calibri"/>
                <a:sym typeface="Calibri"/>
              </a:rPr>
              <a:t xml:space="preserve">AI-Driven Student Performance Prediction and Personalized Recommendation System</a:t>
            </a:r>
          </a:p>
        </p:txBody>
      </p:sp>
      <p:sp>
        <p:nvSpPr>
          <p:cNvPr id="23" name="Google Shape;23;p3"/>
          <p:cNvSpPr/>
          <p:nvPr/>
        </p:nvSpPr>
        <p:spPr>
          <a:xfrm>
            <a:off x="914400" y="4709160"/>
            <a:ext cx="10360152" cy="3200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FE3EE"/>
              </a:buClr>
              <a:buSzPts val="1300"/>
              <a:buFont typeface="Calibri"/>
              <a:buNone/>
            </a:pPr>
            <a:r>
              <a:rPr b="0" i="1" lang="en-US" sz="1500" u="none" cap="none" strike="noStrike">
                <a:solidFill>
                  <a:srgbClr val="CFE3EE"/>
                </a:solidFill>
                <a:latin typeface="Calibri"/>
                <a:ea typeface="Calibri"/>
                <a:cs typeface="Calibri"/>
                <a:sym typeface="Calibri"/>
              </a:rPr>
              <a:t>Project Presentation – I   |   Session 2026–27</a:t>
            </a:r>
            <a:endParaRPr b="0" i="0" sz="1500" u="none" cap="none" strike="noStrike">
              <a:solidFill>
                <a:schemeClr val="dk1"/>
              </a:solidFill>
              <a:latin typeface="Calibri"/>
              <a:ea typeface="Calibri"/>
              <a:cs typeface="Calibri"/>
              <a:sym typeface="Calibri"/>
            </a:endParaRPr>
          </a:p>
        </p:txBody>
      </p:sp>
      <p:cxnSp>
        <p:nvCxnSpPr>
          <p:cNvPr id="24" name="Google Shape;24;p3"/>
          <p:cNvCxnSpPr/>
          <p:nvPr/>
        </p:nvCxnSpPr>
        <p:spPr>
          <a:xfrm>
            <a:off x="6094476" y="5257800"/>
            <a:ext cx="0" cy="1188720"/>
          </a:xfrm>
          <a:prstGeom prst="straightConnector1">
            <a:avLst/>
          </a:prstGeom>
          <a:noFill/>
          <a:ln cap="flat" cmpd="sng" w="9525">
            <a:solidFill>
              <a:srgbClr val="FFFFFF">
                <a:alpha val="30196"/>
              </a:srgbClr>
            </a:solidFill>
            <a:prstDash val="solid"/>
            <a:round/>
            <a:headEnd len="sm" w="sm" type="none"/>
            <a:tailEnd len="sm" w="sm" type="none"/>
          </a:ln>
        </p:spPr>
      </p:cxnSp>
      <p:sp>
        <p:nvSpPr>
          <p:cNvPr id="25" name="Google Shape;25;p3"/>
          <p:cNvSpPr/>
          <p:nvPr/>
        </p:nvSpPr>
        <p:spPr>
          <a:xfrm>
            <a:off x="914400" y="5303520"/>
            <a:ext cx="4114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FB6CE"/>
              </a:buClr>
              <a:buSzPts val="1050"/>
              <a:buFont typeface="Calibri"/>
              <a:buNone/>
            </a:pPr>
            <a:r>
              <a:rPr b="1" i="0" lang="en-US" sz="1150" u="none" cap="none" strike="noStrike">
                <a:solidFill>
                  <a:srgbClr val="6FB6CE"/>
                </a:solidFill>
                <a:latin typeface="Calibri"/>
                <a:ea typeface="Calibri"/>
                <a:cs typeface="Calibri"/>
                <a:sym typeface="Calibri"/>
              </a:rPr>
              <a:t>GUIDE NAME</a:t>
            </a:r>
            <a:endParaRPr b="0" i="0" sz="1250" u="none" cap="none" strike="noStrike">
              <a:solidFill>
                <a:schemeClr val="dk1"/>
              </a:solidFill>
              <a:latin typeface="Calibri"/>
              <a:ea typeface="Calibri"/>
              <a:cs typeface="Calibri"/>
              <a:sym typeface="Calibri"/>
            </a:endParaRPr>
          </a:p>
        </p:txBody>
      </p:sp>
      <p:sp>
        <p:nvSpPr>
          <p:cNvPr id="26" name="Google Shape;26;p3"/>
          <p:cNvSpPr/>
          <p:nvPr/>
        </p:nvSpPr>
        <p:spPr>
          <a:xfrm>
            <a:off x="914400" y="5577840"/>
            <a:ext cx="448056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lang="en-US" sz="1400" b="1" i="0" u="none" cap="none" strike="noStrike">
                <a:solidFill>
                  <a:srgbClr val="FFFFFF"/>
                </a:solidFill>
                <a:latin typeface="Calibri"/>
                <a:ea typeface="Calibri"/>
                <a:cs typeface="Calibri"/>
                <a:sym typeface="Calibri"/>
              </a:rPr>
              <a:t xml:space="preserve">Mr. Mayank</a:t>
            </a:r>
          </a:p>
        </p:txBody>
      </p:sp>
      <p:sp>
        <p:nvSpPr>
          <p:cNvPr id="27" name="Google Shape;27;p3"/>
          <p:cNvSpPr/>
          <p:nvPr/>
        </p:nvSpPr>
        <p:spPr>
          <a:xfrm>
            <a:off x="914400" y="5989320"/>
            <a:ext cx="448056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lang="en-US" sz="1250" b="0" i="0" u="none" cap="none" strike="noStrike">
                <a:solidFill>
                  <a:srgbClr val="CFE3EE"/>
                </a:solidFill>
                <a:latin typeface="Calibri"/>
                <a:ea typeface="Calibri"/>
                <a:cs typeface="Calibri"/>
                <a:sym typeface="Calibri"/>
              </a:rPr>
              <a:t xml:space="preserve">Project Mentor</a:t>
            </a:r>
          </a:p>
        </p:txBody>
      </p:sp>
      <p:sp>
        <p:nvSpPr>
          <p:cNvPr id="28" name="Google Shape;28;p3"/>
          <p:cNvSpPr/>
          <p:nvPr/>
        </p:nvSpPr>
        <p:spPr>
          <a:xfrm>
            <a:off x="7316451" y="5303525"/>
            <a:ext cx="40221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FB6CE"/>
              </a:buClr>
              <a:buSzPts val="1050"/>
              <a:buFont typeface="Calibri"/>
              <a:buNone/>
            </a:pPr>
            <a:r>
              <a:rPr b="1" lang="en-US" sz="1250">
                <a:solidFill>
                  <a:srgbClr val="6FB6CE"/>
                </a:solidFill>
                <a:latin typeface="Calibri"/>
                <a:ea typeface="Calibri"/>
                <a:cs typeface="Calibri"/>
                <a:sym typeface="Calibri"/>
              </a:rPr>
              <a:t>   </a:t>
            </a:r>
            <a:r>
              <a:rPr b="1" i="0" lang="en-US" sz="1250" u="none" cap="none" strike="noStrike">
                <a:solidFill>
                  <a:srgbClr val="6FB6CE"/>
                </a:solidFill>
                <a:latin typeface="Calibri"/>
                <a:ea typeface="Calibri"/>
                <a:cs typeface="Calibri"/>
                <a:sym typeface="Calibri"/>
              </a:rPr>
              <a:t>SUBMITTED BY</a:t>
            </a:r>
            <a:endParaRPr b="0" i="0" sz="1250" u="none" cap="none" strike="noStrike">
              <a:solidFill>
                <a:schemeClr val="dk1"/>
              </a:solidFill>
              <a:latin typeface="Calibri"/>
              <a:ea typeface="Calibri"/>
              <a:cs typeface="Calibri"/>
              <a:sym typeface="Calibri"/>
            </a:endParaRPr>
          </a:p>
        </p:txBody>
      </p:sp>
      <p:sp>
        <p:nvSpPr>
          <p:cNvPr id="29" name="Google Shape;29;p3"/>
          <p:cNvSpPr/>
          <p:nvPr/>
        </p:nvSpPr>
        <p:spPr>
          <a:xfrm>
            <a:off x="7316451" y="5577850"/>
            <a:ext cx="4022100" cy="1005900"/>
          </a:xfrm>
          <a:prstGeom prst="rect">
            <a:avLst/>
          </a:prstGeom>
          <a:noFill/>
          <a:ln>
            <a:noFill/>
          </a:ln>
        </p:spPr>
        <p:txBody>
          <a:bodyPr anchorCtr="0" anchor="ctr" bIns="45700" lIns="91425" spcFirstLastPara="1" rIns="91425" wrap="square" tIns="45700">
            <a:noAutofit/>
          </a:bodyPr>
          <a:lstStyle/>
          <a:p>
            <a:pPr indent="0" lvl="0" marL="0" marR="0" rtl="0" algn="l">
              <a:lnSpc>
                <a:spcPct val="135000"/>
              </a:lnSpc>
              <a:spcBef>
                <a:spcPts val="0"/>
              </a:spcBef>
              <a:spcAft>
                <a:spcPts val="0"/>
              </a:spcAft>
              <a:buNone/>
            </a:pPr>
            <a:r>
              <a:rPr lang="en-US" sz="1250" b="1" i="0" u="none" cap="none" strike="noStrike">
                <a:solidFill>
                  <a:srgbClr val="FFFFFF"/>
                </a:solidFill>
                <a:latin typeface="Calibri"/>
                <a:ea typeface="Calibri"/>
                <a:cs typeface="Calibri"/>
                <a:sym typeface="Calibri"/>
              </a:rPr>
              <a:t xml:space="preserve">Muskan Karn</a:t>
            </a:r>
          </a:p>
          <a:p>
            <a:pPr indent="0" lvl="0" marL="0" marR="0" rtl="0" algn="l">
              <a:lnSpc>
                <a:spcPct val="135000"/>
              </a:lnSpc>
              <a:spcBef>
                <a:spcPts val="0"/>
              </a:spcBef>
              <a:spcAft>
                <a:spcPts val="0"/>
              </a:spcAft>
              <a:buNone/>
            </a:pPr>
            <a:r>
              <a:rPr lang="en-US" sz="1250" b="0" i="0" u="none" cap="none" strike="noStrike">
                <a:solidFill>
                  <a:srgbClr val="FFFFFF"/>
                </a:solidFill>
                <a:latin typeface="Calibri"/>
                <a:ea typeface="Calibri"/>
                <a:cs typeface="Calibri"/>
                <a:sym typeface="Calibri"/>
              </a:rPr>
              <a:t xml:space="preserve">Roll No. 2401531540018</a:t>
            </a:r>
          </a:p>
          <a:p>
            <a:pPr indent="0" lvl="0" marL="0" marR="0" rtl="0" algn="l">
              <a:lnSpc>
                <a:spcPct val="135000"/>
              </a:lnSpc>
              <a:spcBef>
                <a:spcPts val="0"/>
              </a:spcBef>
              <a:spcAft>
                <a:spcPts val="0"/>
              </a:spcAft>
              <a:buNone/>
            </a:pPr>
            <a:r>
              <a:rPr lang="en-US" sz="1250" b="0" i="0" u="none" cap="none" strike="noStrike">
                <a:solidFill>
                  <a:srgbClr val="FFFFFF"/>
                </a:solidFill>
                <a:latin typeface="Calibri"/>
                <a:ea typeface="Calibri"/>
                <a:cs typeface="Calibri"/>
                <a:sym typeface="Calibri"/>
              </a:rPr>
              <a:t xml:space="preserve">Data Science  ·  Semester V</a:t>
            </a:r>
          </a:p>
        </p:txBody>
      </p:sp>
      <p:pic>
        <p:nvPicPr>
          <p:cNvPr id="30" name="Google Shape;30;p3" title="LLOYD-logo.png"/>
          <p:cNvPicPr preferRelativeResize="0"/>
          <p:nvPr/>
        </p:nvPicPr>
        <p:blipFill rotWithShape="1">
          <a:blip r:embed="rId3">
            <a:alphaModFix/>
          </a:blip>
          <a:srcRect b="0" l="0" r="0" t="0"/>
          <a:stretch/>
        </p:blipFill>
        <p:spPr>
          <a:xfrm>
            <a:off x="5591563" y="424800"/>
            <a:ext cx="1005835" cy="9986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35" name="Shape 35"/>
        <p:cNvGrpSpPr/>
        <p:nvPr/>
      </p:nvGrpSpPr>
      <p:grpSpPr>
        <a:xfrm>
          <a:off x="0" y="0"/>
          <a:ext cx="0" cy="0"/>
          <a:chOff x="0" y="0"/>
          <a:chExt cx="0" cy="0"/>
        </a:xfrm>
      </p:grpSpPr>
      <p:sp>
        <p:nvSpPr>
          <p:cNvPr id="36" name="Google Shape;36;p4"/>
          <p:cNvSpPr/>
          <p:nvPr/>
        </p:nvSpPr>
        <p:spPr>
          <a:xfrm>
            <a:off x="10424160" y="-1463040"/>
            <a:ext cx="3108960" cy="3108960"/>
          </a:xfrm>
          <a:prstGeom prst="ellipse">
            <a:avLst/>
          </a:prstGeom>
          <a:solidFill>
            <a:srgbClr val="1C7293">
              <a:alpha val="784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4"/>
          <p:cNvSpPr/>
          <p:nvPr/>
        </p:nvSpPr>
        <p:spPr>
          <a:xfrm>
            <a:off x="-1097280" y="5669280"/>
            <a:ext cx="2194560" cy="2194560"/>
          </a:xfrm>
          <a:prstGeom prst="ellipse">
            <a:avLst/>
          </a:prstGeom>
          <a:solidFill>
            <a:srgbClr val="21295C">
              <a:alpha val="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4"/>
          <p:cNvSpPr/>
          <p:nvPr/>
        </p:nvSpPr>
        <p:spPr>
          <a:xfrm>
            <a:off x="502920" y="457200"/>
            <a:ext cx="530352" cy="530352"/>
          </a:xfrm>
          <a:prstGeom prst="roundRect">
            <a:avLst>
              <a:gd fmla="val 20690" name="adj"/>
            </a:avLst>
          </a:prstGeom>
          <a:solidFill>
            <a:srgbClr val="2129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4"/>
          <p:cNvSpPr/>
          <p:nvPr/>
        </p:nvSpPr>
        <p:spPr>
          <a:xfrm>
            <a:off x="502920" y="457200"/>
            <a:ext cx="530352" cy="5303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01</a:t>
            </a:r>
            <a:endParaRPr b="0" i="0" sz="1600" u="none" cap="none" strike="noStrike">
              <a:solidFill>
                <a:schemeClr val="dk1"/>
              </a:solidFill>
              <a:latin typeface="Calibri"/>
              <a:ea typeface="Calibri"/>
              <a:cs typeface="Calibri"/>
              <a:sym typeface="Calibri"/>
            </a:endParaRPr>
          </a:p>
        </p:txBody>
      </p:sp>
      <p:sp>
        <p:nvSpPr>
          <p:cNvPr id="40" name="Google Shape;40;p4"/>
          <p:cNvSpPr/>
          <p:nvPr/>
        </p:nvSpPr>
        <p:spPr>
          <a:xfrm>
            <a:off x="1234440" y="429768"/>
            <a:ext cx="8686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C7293"/>
              </a:buClr>
              <a:buSzPts val="1100"/>
              <a:buFont typeface="Calibri"/>
              <a:buNone/>
            </a:pPr>
            <a:r>
              <a:rPr b="1" i="0" lang="en-US" sz="1100" u="none" cap="none" strike="noStrike">
                <a:solidFill>
                  <a:srgbClr val="1C7293"/>
                </a:solidFill>
                <a:latin typeface="Calibri"/>
                <a:ea typeface="Calibri"/>
                <a:cs typeface="Calibri"/>
                <a:sym typeface="Calibri"/>
              </a:rPr>
              <a:t>OVERVIEW</a:t>
            </a:r>
            <a:endParaRPr b="0" i="0" sz="1100" u="none" cap="none" strike="noStrike">
              <a:solidFill>
                <a:schemeClr val="dk1"/>
              </a:solidFill>
              <a:latin typeface="Calibri"/>
              <a:ea typeface="Calibri"/>
              <a:cs typeface="Calibri"/>
              <a:sym typeface="Calibri"/>
            </a:endParaRPr>
          </a:p>
        </p:txBody>
      </p:sp>
      <p:sp>
        <p:nvSpPr>
          <p:cNvPr id="41" name="Google Shape;41;p4"/>
          <p:cNvSpPr/>
          <p:nvPr/>
        </p:nvSpPr>
        <p:spPr>
          <a:xfrm>
            <a:off x="1234440" y="676656"/>
            <a:ext cx="96926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Presentation Agenda</a:t>
            </a:r>
            <a:endParaRPr b="0" i="0" sz="3000" u="none" cap="none" strike="noStrike">
              <a:solidFill>
                <a:schemeClr val="dk1"/>
              </a:solidFill>
              <a:latin typeface="Calibri"/>
              <a:ea typeface="Calibri"/>
              <a:cs typeface="Calibri"/>
              <a:sym typeface="Calibri"/>
            </a:endParaRPr>
          </a:p>
        </p:txBody>
      </p:sp>
      <p:sp>
        <p:nvSpPr>
          <p:cNvPr id="42" name="Google Shape;42;p4"/>
          <p:cNvSpPr/>
          <p:nvPr/>
        </p:nvSpPr>
        <p:spPr>
          <a:xfrm>
            <a:off x="914400" y="1600200"/>
            <a:ext cx="420624" cy="420624"/>
          </a:xfrm>
          <a:prstGeom prst="ellipse">
            <a:avLst/>
          </a:prstGeom>
          <a:solidFill>
            <a:srgbClr val="1C72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4"/>
          <p:cNvSpPr/>
          <p:nvPr/>
        </p:nvSpPr>
        <p:spPr>
          <a:xfrm>
            <a:off x="914400" y="1600200"/>
            <a:ext cx="420624" cy="4206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44" name="Google Shape;44;p4"/>
          <p:cNvSpPr/>
          <p:nvPr/>
        </p:nvSpPr>
        <p:spPr>
          <a:xfrm>
            <a:off x="1536192" y="1581912"/>
            <a:ext cx="429768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B1F3B"/>
              </a:buClr>
              <a:buSzPts val="1600"/>
              <a:buFont typeface="Calibri"/>
              <a:buNone/>
            </a:pPr>
            <a:r>
              <a:rPr b="1" i="0" lang="en-US" sz="1600" u="none" cap="none" strike="noStrike">
                <a:solidFill>
                  <a:srgbClr val="1B1F3B"/>
                </a:solidFill>
                <a:latin typeface="Calibri"/>
                <a:ea typeface="Calibri"/>
                <a:cs typeface="Calibri"/>
                <a:sym typeface="Calibri"/>
              </a:rPr>
              <a:t>Problem Statement</a:t>
            </a:r>
            <a:endParaRPr b="0" i="0" sz="1600" u="none" cap="none" strike="noStrike">
              <a:solidFill>
                <a:schemeClr val="dk1"/>
              </a:solidFill>
              <a:latin typeface="Calibri"/>
              <a:ea typeface="Calibri"/>
              <a:cs typeface="Calibri"/>
              <a:sym typeface="Calibri"/>
            </a:endParaRPr>
          </a:p>
        </p:txBody>
      </p:sp>
      <p:sp>
        <p:nvSpPr>
          <p:cNvPr id="45" name="Google Shape;45;p4"/>
          <p:cNvSpPr/>
          <p:nvPr/>
        </p:nvSpPr>
        <p:spPr>
          <a:xfrm>
            <a:off x="914400" y="2258568"/>
            <a:ext cx="420624" cy="420624"/>
          </a:xfrm>
          <a:prstGeom prst="ellipse">
            <a:avLst/>
          </a:prstGeom>
          <a:solidFill>
            <a:srgbClr val="1C72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4"/>
          <p:cNvSpPr/>
          <p:nvPr/>
        </p:nvSpPr>
        <p:spPr>
          <a:xfrm>
            <a:off x="914400" y="2258568"/>
            <a:ext cx="420624" cy="4206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47" name="Google Shape;47;p4"/>
          <p:cNvSpPr/>
          <p:nvPr/>
        </p:nvSpPr>
        <p:spPr>
          <a:xfrm>
            <a:off x="1536192" y="2240280"/>
            <a:ext cx="429768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B1F3B"/>
              </a:buClr>
              <a:buSzPts val="1600"/>
              <a:buFont typeface="Calibri"/>
              <a:buNone/>
            </a:pPr>
            <a:r>
              <a:rPr b="1" i="0" lang="en-US" sz="1600" u="none" cap="none" strike="noStrike">
                <a:solidFill>
                  <a:srgbClr val="1B1F3B"/>
                </a:solidFill>
                <a:latin typeface="Calibri"/>
                <a:ea typeface="Calibri"/>
                <a:cs typeface="Calibri"/>
                <a:sym typeface="Calibri"/>
              </a:rPr>
              <a:t>Objectives</a:t>
            </a:r>
            <a:endParaRPr b="0" i="0" sz="1600" u="none" cap="none" strike="noStrike">
              <a:solidFill>
                <a:schemeClr val="dk1"/>
              </a:solidFill>
              <a:latin typeface="Calibri"/>
              <a:ea typeface="Calibri"/>
              <a:cs typeface="Calibri"/>
              <a:sym typeface="Calibri"/>
            </a:endParaRPr>
          </a:p>
        </p:txBody>
      </p:sp>
      <p:sp>
        <p:nvSpPr>
          <p:cNvPr id="48" name="Google Shape;48;p4"/>
          <p:cNvSpPr/>
          <p:nvPr/>
        </p:nvSpPr>
        <p:spPr>
          <a:xfrm>
            <a:off x="914400" y="2916936"/>
            <a:ext cx="420624" cy="420624"/>
          </a:xfrm>
          <a:prstGeom prst="ellipse">
            <a:avLst/>
          </a:prstGeom>
          <a:solidFill>
            <a:srgbClr val="1C72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4"/>
          <p:cNvSpPr/>
          <p:nvPr/>
        </p:nvSpPr>
        <p:spPr>
          <a:xfrm>
            <a:off x="914400" y="2916936"/>
            <a:ext cx="420624" cy="4206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50" name="Google Shape;50;p4"/>
          <p:cNvSpPr/>
          <p:nvPr/>
        </p:nvSpPr>
        <p:spPr>
          <a:xfrm>
            <a:off x="1536192" y="2898648"/>
            <a:ext cx="429768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B1F3B"/>
              </a:buClr>
              <a:buSzPts val="1600"/>
              <a:buFont typeface="Calibri"/>
              <a:buNone/>
            </a:pPr>
            <a:r>
              <a:rPr b="1" i="0" lang="en-US" sz="1600" u="none" cap="none" strike="noStrike">
                <a:solidFill>
                  <a:srgbClr val="1B1F3B"/>
                </a:solidFill>
                <a:latin typeface="Calibri"/>
                <a:ea typeface="Calibri"/>
                <a:cs typeface="Calibri"/>
                <a:sym typeface="Calibri"/>
              </a:rPr>
              <a:t>Technology Stack</a:t>
            </a:r>
            <a:endParaRPr b="0" i="0" sz="1600" u="none" cap="none" strike="noStrike">
              <a:solidFill>
                <a:schemeClr val="dk1"/>
              </a:solidFill>
              <a:latin typeface="Calibri"/>
              <a:ea typeface="Calibri"/>
              <a:cs typeface="Calibri"/>
              <a:sym typeface="Calibri"/>
            </a:endParaRPr>
          </a:p>
        </p:txBody>
      </p:sp>
      <p:sp>
        <p:nvSpPr>
          <p:cNvPr id="51" name="Google Shape;51;p4"/>
          <p:cNvSpPr/>
          <p:nvPr/>
        </p:nvSpPr>
        <p:spPr>
          <a:xfrm>
            <a:off x="914400" y="3575304"/>
            <a:ext cx="420624" cy="420624"/>
          </a:xfrm>
          <a:prstGeom prst="ellipse">
            <a:avLst/>
          </a:prstGeom>
          <a:solidFill>
            <a:srgbClr val="1C72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4"/>
          <p:cNvSpPr/>
          <p:nvPr/>
        </p:nvSpPr>
        <p:spPr>
          <a:xfrm>
            <a:off x="914400" y="3575304"/>
            <a:ext cx="420624" cy="4206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4</a:t>
            </a:r>
            <a:endParaRPr b="0" i="0" sz="1400" u="none" cap="none" strike="noStrike">
              <a:solidFill>
                <a:schemeClr val="dk1"/>
              </a:solidFill>
              <a:latin typeface="Calibri"/>
              <a:ea typeface="Calibri"/>
              <a:cs typeface="Calibri"/>
              <a:sym typeface="Calibri"/>
            </a:endParaRPr>
          </a:p>
        </p:txBody>
      </p:sp>
      <p:sp>
        <p:nvSpPr>
          <p:cNvPr id="53" name="Google Shape;53;p4"/>
          <p:cNvSpPr/>
          <p:nvPr/>
        </p:nvSpPr>
        <p:spPr>
          <a:xfrm>
            <a:off x="1536192" y="3557016"/>
            <a:ext cx="429768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B1F3B"/>
              </a:buClr>
              <a:buSzPts val="1600"/>
              <a:buFont typeface="Calibri"/>
              <a:buNone/>
            </a:pPr>
            <a:r>
              <a:rPr b="1" i="0" lang="en-US" sz="1600" u="none" cap="none" strike="noStrike">
                <a:solidFill>
                  <a:srgbClr val="1B1F3B"/>
                </a:solidFill>
                <a:latin typeface="Calibri"/>
                <a:ea typeface="Calibri"/>
                <a:cs typeface="Calibri"/>
                <a:sym typeface="Calibri"/>
              </a:rPr>
              <a:t>Literature Survey</a:t>
            </a:r>
            <a:endParaRPr b="0" i="0" sz="1600" u="none" cap="none" strike="noStrike">
              <a:solidFill>
                <a:schemeClr val="dk1"/>
              </a:solidFill>
              <a:latin typeface="Calibri"/>
              <a:ea typeface="Calibri"/>
              <a:cs typeface="Calibri"/>
              <a:sym typeface="Calibri"/>
            </a:endParaRPr>
          </a:p>
        </p:txBody>
      </p:sp>
      <p:sp>
        <p:nvSpPr>
          <p:cNvPr id="54" name="Google Shape;54;p4"/>
          <p:cNvSpPr/>
          <p:nvPr/>
        </p:nvSpPr>
        <p:spPr>
          <a:xfrm>
            <a:off x="6309360" y="1600200"/>
            <a:ext cx="420624" cy="420624"/>
          </a:xfrm>
          <a:prstGeom prst="ellipse">
            <a:avLst/>
          </a:prstGeom>
          <a:solidFill>
            <a:srgbClr val="1C72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4"/>
          <p:cNvSpPr/>
          <p:nvPr/>
        </p:nvSpPr>
        <p:spPr>
          <a:xfrm>
            <a:off x="6309360" y="1600200"/>
            <a:ext cx="420624" cy="4206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5</a:t>
            </a:r>
            <a:endParaRPr b="0" i="0" sz="1400" u="none" cap="none" strike="noStrike">
              <a:solidFill>
                <a:schemeClr val="dk1"/>
              </a:solidFill>
              <a:latin typeface="Calibri"/>
              <a:ea typeface="Calibri"/>
              <a:cs typeface="Calibri"/>
              <a:sym typeface="Calibri"/>
            </a:endParaRPr>
          </a:p>
        </p:txBody>
      </p:sp>
      <p:sp>
        <p:nvSpPr>
          <p:cNvPr id="56" name="Google Shape;56;p4"/>
          <p:cNvSpPr/>
          <p:nvPr/>
        </p:nvSpPr>
        <p:spPr>
          <a:xfrm>
            <a:off x="6931152" y="1581912"/>
            <a:ext cx="429768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B1F3B"/>
              </a:buClr>
              <a:buSzPts val="1600"/>
              <a:buFont typeface="Calibri"/>
              <a:buNone/>
            </a:pPr>
            <a:r>
              <a:rPr b="1" i="0" lang="en-US" sz="1600" u="none" cap="none" strike="noStrike">
                <a:solidFill>
                  <a:srgbClr val="1B1F3B"/>
                </a:solidFill>
                <a:latin typeface="Calibri"/>
                <a:ea typeface="Calibri"/>
                <a:cs typeface="Calibri"/>
                <a:sym typeface="Calibri"/>
              </a:rPr>
              <a:t>System Workflow / Architecture</a:t>
            </a:r>
            <a:endParaRPr b="0" i="0" sz="1600" u="none" cap="none" strike="noStrike">
              <a:solidFill>
                <a:schemeClr val="dk1"/>
              </a:solidFill>
              <a:latin typeface="Calibri"/>
              <a:ea typeface="Calibri"/>
              <a:cs typeface="Calibri"/>
              <a:sym typeface="Calibri"/>
            </a:endParaRPr>
          </a:p>
        </p:txBody>
      </p:sp>
      <p:sp>
        <p:nvSpPr>
          <p:cNvPr id="57" name="Google Shape;57;p4"/>
          <p:cNvSpPr/>
          <p:nvPr/>
        </p:nvSpPr>
        <p:spPr>
          <a:xfrm>
            <a:off x="6309360" y="2258568"/>
            <a:ext cx="420624" cy="420624"/>
          </a:xfrm>
          <a:prstGeom prst="ellipse">
            <a:avLst/>
          </a:prstGeom>
          <a:solidFill>
            <a:srgbClr val="1C72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4"/>
          <p:cNvSpPr/>
          <p:nvPr/>
        </p:nvSpPr>
        <p:spPr>
          <a:xfrm>
            <a:off x="6309360" y="2258568"/>
            <a:ext cx="420624" cy="4206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6</a:t>
            </a:r>
            <a:endParaRPr b="0" i="0" sz="1400" u="none" cap="none" strike="noStrike">
              <a:solidFill>
                <a:schemeClr val="dk1"/>
              </a:solidFill>
              <a:latin typeface="Calibri"/>
              <a:ea typeface="Calibri"/>
              <a:cs typeface="Calibri"/>
              <a:sym typeface="Calibri"/>
            </a:endParaRPr>
          </a:p>
        </p:txBody>
      </p:sp>
      <p:sp>
        <p:nvSpPr>
          <p:cNvPr id="59" name="Google Shape;59;p4"/>
          <p:cNvSpPr/>
          <p:nvPr/>
        </p:nvSpPr>
        <p:spPr>
          <a:xfrm>
            <a:off x="6931152" y="2240280"/>
            <a:ext cx="429768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B1F3B"/>
              </a:buClr>
              <a:buSzPts val="1600"/>
              <a:buFont typeface="Calibri"/>
              <a:buNone/>
            </a:pPr>
            <a:r>
              <a:rPr b="1" i="0" lang="en-US" sz="1600" u="none" cap="none" strike="noStrike">
                <a:solidFill>
                  <a:srgbClr val="1B1F3B"/>
                </a:solidFill>
                <a:latin typeface="Calibri"/>
                <a:ea typeface="Calibri"/>
                <a:cs typeface="Calibri"/>
                <a:sym typeface="Calibri"/>
              </a:rPr>
              <a:t>Expected Outcome</a:t>
            </a:r>
            <a:endParaRPr b="0" i="0" sz="1600" u="none" cap="none" strike="noStrike">
              <a:solidFill>
                <a:schemeClr val="dk1"/>
              </a:solidFill>
              <a:latin typeface="Calibri"/>
              <a:ea typeface="Calibri"/>
              <a:cs typeface="Calibri"/>
              <a:sym typeface="Calibri"/>
            </a:endParaRPr>
          </a:p>
        </p:txBody>
      </p:sp>
      <p:sp>
        <p:nvSpPr>
          <p:cNvPr id="60" name="Google Shape;60;p4"/>
          <p:cNvSpPr/>
          <p:nvPr/>
        </p:nvSpPr>
        <p:spPr>
          <a:xfrm>
            <a:off x="6309360" y="2916936"/>
            <a:ext cx="420624" cy="420624"/>
          </a:xfrm>
          <a:prstGeom prst="ellipse">
            <a:avLst/>
          </a:prstGeom>
          <a:solidFill>
            <a:srgbClr val="1C72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4"/>
          <p:cNvSpPr/>
          <p:nvPr/>
        </p:nvSpPr>
        <p:spPr>
          <a:xfrm>
            <a:off x="6309360" y="2916936"/>
            <a:ext cx="420624" cy="4206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7</a:t>
            </a:r>
            <a:endParaRPr b="0" i="0" sz="1400" u="none" cap="none" strike="noStrike">
              <a:solidFill>
                <a:schemeClr val="dk1"/>
              </a:solidFill>
              <a:latin typeface="Calibri"/>
              <a:ea typeface="Calibri"/>
              <a:cs typeface="Calibri"/>
              <a:sym typeface="Calibri"/>
            </a:endParaRPr>
          </a:p>
        </p:txBody>
      </p:sp>
      <p:sp>
        <p:nvSpPr>
          <p:cNvPr id="62" name="Google Shape;62;p4"/>
          <p:cNvSpPr/>
          <p:nvPr/>
        </p:nvSpPr>
        <p:spPr>
          <a:xfrm>
            <a:off x="6931152" y="2898648"/>
            <a:ext cx="429768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B1F3B"/>
              </a:buClr>
              <a:buSzPts val="1600"/>
              <a:buFont typeface="Calibri"/>
              <a:buNone/>
            </a:pPr>
            <a:r>
              <a:rPr b="1" i="0" lang="en-US" sz="1600" u="none" cap="none" strike="noStrike">
                <a:solidFill>
                  <a:srgbClr val="1B1F3B"/>
                </a:solidFill>
                <a:latin typeface="Calibri"/>
                <a:ea typeface="Calibri"/>
                <a:cs typeface="Calibri"/>
                <a:sym typeface="Calibri"/>
              </a:rPr>
              <a:t>References</a:t>
            </a:r>
            <a:endParaRPr b="0" i="0" sz="1600" u="none" cap="none" strike="noStrike">
              <a:solidFill>
                <a:schemeClr val="dk1"/>
              </a:solidFill>
              <a:latin typeface="Calibri"/>
              <a:ea typeface="Calibri"/>
              <a:cs typeface="Calibri"/>
              <a:sym typeface="Calibri"/>
            </a:endParaRPr>
          </a:p>
        </p:txBody>
      </p:sp>
      <p:sp>
        <p:nvSpPr>
          <p:cNvPr id="63" name="Google Shape;63;p4"/>
          <p:cNvSpPr/>
          <p:nvPr/>
        </p:nvSpPr>
        <p:spPr>
          <a:xfrm>
            <a:off x="502920" y="6519672"/>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B.TECH THIRD YEAR  ·  MINI PROJECT PRESENTATION</a:t>
            </a:r>
            <a:endParaRPr b="0" i="0" sz="900" u="none" cap="none" strike="noStrike">
              <a:solidFill>
                <a:schemeClr val="dk1"/>
              </a:solidFill>
              <a:latin typeface="Calibri"/>
              <a:ea typeface="Calibri"/>
              <a:cs typeface="Calibri"/>
              <a:sym typeface="Calibri"/>
            </a:endParaRPr>
          </a:p>
        </p:txBody>
      </p:sp>
      <p:sp>
        <p:nvSpPr>
          <p:cNvPr id="64" name="Google Shape;64;p4"/>
          <p:cNvSpPr/>
          <p:nvPr/>
        </p:nvSpPr>
        <p:spPr>
          <a:xfrm>
            <a:off x="11228832" y="6519672"/>
            <a:ext cx="45720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69" name="Shape 69"/>
        <p:cNvGrpSpPr/>
        <p:nvPr/>
      </p:nvGrpSpPr>
      <p:grpSpPr>
        <a:xfrm>
          <a:off x="0" y="0"/>
          <a:ext cx="0" cy="0"/>
          <a:chOff x="0" y="0"/>
          <a:chExt cx="0" cy="0"/>
        </a:xfrm>
      </p:grpSpPr>
      <p:sp>
        <p:nvSpPr>
          <p:cNvPr id="70" name="Google Shape;70;p5"/>
          <p:cNvSpPr/>
          <p:nvPr/>
        </p:nvSpPr>
        <p:spPr>
          <a:xfrm>
            <a:off x="10424160" y="-1463040"/>
            <a:ext cx="3108960" cy="3108960"/>
          </a:xfrm>
          <a:prstGeom prst="ellipse">
            <a:avLst/>
          </a:prstGeom>
          <a:solidFill>
            <a:srgbClr val="1C7293">
              <a:alpha val="784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5"/>
          <p:cNvSpPr/>
          <p:nvPr/>
        </p:nvSpPr>
        <p:spPr>
          <a:xfrm>
            <a:off x="-1097280" y="5669280"/>
            <a:ext cx="2194560" cy="2194560"/>
          </a:xfrm>
          <a:prstGeom prst="ellipse">
            <a:avLst/>
          </a:prstGeom>
          <a:solidFill>
            <a:srgbClr val="21295C">
              <a:alpha val="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5"/>
          <p:cNvSpPr/>
          <p:nvPr/>
        </p:nvSpPr>
        <p:spPr>
          <a:xfrm>
            <a:off x="502920" y="457200"/>
            <a:ext cx="530352" cy="530352"/>
          </a:xfrm>
          <a:prstGeom prst="roundRect">
            <a:avLst>
              <a:gd fmla="val 20690" name="adj"/>
            </a:avLst>
          </a:prstGeom>
          <a:solidFill>
            <a:srgbClr val="2129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5"/>
          <p:cNvSpPr/>
          <p:nvPr/>
        </p:nvSpPr>
        <p:spPr>
          <a:xfrm>
            <a:off x="502920" y="457200"/>
            <a:ext cx="530352" cy="5303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02</a:t>
            </a:r>
            <a:endParaRPr b="0" i="0" sz="1600" u="none" cap="none" strike="noStrike">
              <a:solidFill>
                <a:schemeClr val="dk1"/>
              </a:solidFill>
              <a:latin typeface="Calibri"/>
              <a:ea typeface="Calibri"/>
              <a:cs typeface="Calibri"/>
              <a:sym typeface="Calibri"/>
            </a:endParaRPr>
          </a:p>
        </p:txBody>
      </p:sp>
      <p:sp>
        <p:nvSpPr>
          <p:cNvPr id="74" name="Google Shape;74;p5"/>
          <p:cNvSpPr/>
          <p:nvPr/>
        </p:nvSpPr>
        <p:spPr>
          <a:xfrm>
            <a:off x="1234440" y="429768"/>
            <a:ext cx="8686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C7293"/>
              </a:buClr>
              <a:buSzPts val="1100"/>
              <a:buFont typeface="Calibri"/>
              <a:buNone/>
            </a:pPr>
            <a:r>
              <a:rPr b="1" i="0" lang="en-US" sz="1100" u="none" cap="none" strike="noStrike">
                <a:solidFill>
                  <a:srgbClr val="1C7293"/>
                </a:solidFill>
                <a:latin typeface="Calibri"/>
                <a:ea typeface="Calibri"/>
                <a:cs typeface="Calibri"/>
                <a:sym typeface="Calibri"/>
              </a:rPr>
              <a:t>SECTION 02</a:t>
            </a:r>
            <a:endParaRPr b="0" i="0" sz="1100" u="none" cap="none" strike="noStrike">
              <a:solidFill>
                <a:schemeClr val="dk1"/>
              </a:solidFill>
              <a:latin typeface="Calibri"/>
              <a:ea typeface="Calibri"/>
              <a:cs typeface="Calibri"/>
              <a:sym typeface="Calibri"/>
            </a:endParaRPr>
          </a:p>
        </p:txBody>
      </p:sp>
      <p:sp>
        <p:nvSpPr>
          <p:cNvPr id="75" name="Google Shape;75;p5"/>
          <p:cNvSpPr/>
          <p:nvPr/>
        </p:nvSpPr>
        <p:spPr>
          <a:xfrm>
            <a:off x="1234440" y="676656"/>
            <a:ext cx="96926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Problem Statement</a:t>
            </a:r>
            <a:endParaRPr b="0" i="0" sz="3000" u="none" cap="none" strike="noStrike">
              <a:solidFill>
                <a:schemeClr val="dk1"/>
              </a:solidFill>
              <a:latin typeface="Calibri"/>
              <a:ea typeface="Calibri"/>
              <a:cs typeface="Calibri"/>
              <a:sym typeface="Calibri"/>
            </a:endParaRPr>
          </a:p>
        </p:txBody>
      </p:sp>
      <p:sp>
        <p:nvSpPr>
          <p:cNvPr id="76" name="Google Shape;76;p5"/>
          <p:cNvSpPr/>
          <p:nvPr/>
        </p:nvSpPr>
        <p:spPr>
          <a:xfrm>
            <a:off x="1234450" y="1543875"/>
            <a:ext cx="9849000" cy="4445400"/>
          </a:xfrm>
          <a:prstGeom prst="roundRect">
            <a:avLst>
              <a:gd fmla="val 2564" name="adj"/>
            </a:avLst>
          </a:prstGeom>
          <a:solidFill>
            <a:srgbClr val="FFFFFF"/>
          </a:solidFill>
          <a:ln cap="flat" cmpd="sng" w="12700">
            <a:solidFill>
              <a:srgbClr val="DEE4EF"/>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5"/>
          <p:cNvSpPr/>
          <p:nvPr/>
        </p:nvSpPr>
        <p:spPr>
          <a:xfrm>
            <a:off x="1554475" y="1772638"/>
            <a:ext cx="9106200" cy="42168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1400"/>
              </a:spcAft>
              <a:buNone/>
            </a:pPr>
            <a:r>
              <a:rPr lang="en-US" sz="1700" b="1" i="0" u="none" cap="none" strike="noStrike">
                <a:solidFill>
                  <a:srgbClr val="21295C"/>
                </a:solidFill>
                <a:latin typeface="Calibri"/>
                <a:ea typeface="Calibri"/>
                <a:cs typeface="Calibri"/>
                <a:sym typeface="Calibri"/>
              </a:rPr>
              <a:t xml:space="preserve">Predictions stop at Pass / Fail – students never learn why they are at risk or what to do about it.</a:t>
            </a:r>
          </a:p>
          <a:p>
            <a:pPr indent="0" lvl="0" marL="0" marR="0" rtl="0" algn="l">
              <a:lnSpc>
                <a:spcPct val="125000"/>
              </a:lnSpc>
              <a:spcBef>
                <a:spcPts val="0"/>
              </a:spcBef>
              <a:spcAft>
                <a:spcPts val="1400"/>
              </a:spcAft>
              <a:buNone/>
            </a:pPr>
            <a:r>
              <a:rPr lang="en-US" sz="1500" b="0" i="0" u="none" cap="none" strike="noStrike">
                <a:solidFill>
                  <a:srgbClr val="1B1F3B"/>
                </a:solidFill>
                <a:latin typeface="Calibri"/>
                <a:ea typeface="Calibri"/>
                <a:cs typeface="Calibri"/>
                <a:sym typeface="Calibri"/>
              </a:rPr>
              <a:t xml:space="preserve">Existing student-performance prediction approaches stop at labelling a student Pass or Fail from subject scores and background data. They do not report how confident the prediction is, do not tell an individual student which subject is pulling their performance down, and do not turn that weakness into a concrete “study this subject” recommendation. As a result, a student often discovers the risk only after the final result is out – when it is too late to act.</a:t>
            </a:r>
          </a:p>
          <a:p>
            <a:pPr indent="0" lvl="0" marL="0" marR="0" rtl="0" algn="l">
              <a:lnSpc>
                <a:spcPct val="125000"/>
              </a:lnSpc>
              <a:spcBef>
                <a:spcPts val="0"/>
              </a:spcBef>
              <a:spcAft>
                <a:spcPts val="0"/>
              </a:spcAft>
              <a:buNone/>
            </a:pPr>
            <a:r>
              <a:rPr lang="en-US" sz="1500" b="1" i="0" u="none" cap="none" strike="noStrike">
                <a:solidFill>
                  <a:srgbClr val="1C7293"/>
                </a:solidFill>
                <a:latin typeface="Calibri"/>
                <a:ea typeface="Calibri"/>
                <a:cs typeface="Calibri"/>
                <a:sym typeface="Calibri"/>
              </a:rPr>
              <a:t xml:space="preserve">There is a need for a system where each student can check their own record and instantly see the predicted pass percentage, the weakest subject, and the subject(s) to focus on – well before the final examination.</a:t>
            </a:r>
          </a:p>
        </p:txBody>
      </p:sp>
      <p:sp>
        <p:nvSpPr>
          <p:cNvPr id="78" name="Google Shape;78;p5"/>
          <p:cNvSpPr/>
          <p:nvPr/>
        </p:nvSpPr>
        <p:spPr>
          <a:xfrm>
            <a:off x="502920" y="6519672"/>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B.TECH THIRD YEAR  ·  MINI PROJECT PRESENTATION</a:t>
            </a:r>
            <a:endParaRPr b="0" i="0" sz="900" u="none" cap="none" strike="noStrike">
              <a:solidFill>
                <a:schemeClr val="dk1"/>
              </a:solidFill>
              <a:latin typeface="Calibri"/>
              <a:ea typeface="Calibri"/>
              <a:cs typeface="Calibri"/>
              <a:sym typeface="Calibri"/>
            </a:endParaRPr>
          </a:p>
        </p:txBody>
      </p:sp>
      <p:sp>
        <p:nvSpPr>
          <p:cNvPr id="79" name="Google Shape;79;p5"/>
          <p:cNvSpPr/>
          <p:nvPr/>
        </p:nvSpPr>
        <p:spPr>
          <a:xfrm>
            <a:off x="11228832" y="6519672"/>
            <a:ext cx="45720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84" name="Shape 84"/>
        <p:cNvGrpSpPr/>
        <p:nvPr/>
      </p:nvGrpSpPr>
      <p:grpSpPr>
        <a:xfrm>
          <a:off x="0" y="0"/>
          <a:ext cx="0" cy="0"/>
          <a:chOff x="0" y="0"/>
          <a:chExt cx="0" cy="0"/>
        </a:xfrm>
      </p:grpSpPr>
      <p:sp>
        <p:nvSpPr>
          <p:cNvPr id="85" name="Google Shape;85;p6"/>
          <p:cNvSpPr/>
          <p:nvPr/>
        </p:nvSpPr>
        <p:spPr>
          <a:xfrm>
            <a:off x="10424160" y="-1463040"/>
            <a:ext cx="3108960" cy="3108960"/>
          </a:xfrm>
          <a:prstGeom prst="ellipse">
            <a:avLst/>
          </a:prstGeom>
          <a:solidFill>
            <a:srgbClr val="1C7293">
              <a:alpha val="784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6"/>
          <p:cNvSpPr/>
          <p:nvPr/>
        </p:nvSpPr>
        <p:spPr>
          <a:xfrm>
            <a:off x="-1097280" y="5669280"/>
            <a:ext cx="2194560" cy="2194560"/>
          </a:xfrm>
          <a:prstGeom prst="ellipse">
            <a:avLst/>
          </a:prstGeom>
          <a:solidFill>
            <a:srgbClr val="21295C">
              <a:alpha val="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6"/>
          <p:cNvSpPr/>
          <p:nvPr/>
        </p:nvSpPr>
        <p:spPr>
          <a:xfrm>
            <a:off x="502920" y="457200"/>
            <a:ext cx="530352" cy="530352"/>
          </a:xfrm>
          <a:prstGeom prst="roundRect">
            <a:avLst>
              <a:gd fmla="val 20690" name="adj"/>
            </a:avLst>
          </a:prstGeom>
          <a:solidFill>
            <a:srgbClr val="2129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6"/>
          <p:cNvSpPr/>
          <p:nvPr/>
        </p:nvSpPr>
        <p:spPr>
          <a:xfrm>
            <a:off x="502920" y="457200"/>
            <a:ext cx="530352" cy="5303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03</a:t>
            </a:r>
            <a:endParaRPr b="0" i="0" sz="1600" u="none" cap="none" strike="noStrike">
              <a:solidFill>
                <a:schemeClr val="dk1"/>
              </a:solidFill>
              <a:latin typeface="Calibri"/>
              <a:ea typeface="Calibri"/>
              <a:cs typeface="Calibri"/>
              <a:sym typeface="Calibri"/>
            </a:endParaRPr>
          </a:p>
        </p:txBody>
      </p:sp>
      <p:sp>
        <p:nvSpPr>
          <p:cNvPr id="89" name="Google Shape;89;p6"/>
          <p:cNvSpPr/>
          <p:nvPr/>
        </p:nvSpPr>
        <p:spPr>
          <a:xfrm>
            <a:off x="1234440" y="429768"/>
            <a:ext cx="8686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C7293"/>
              </a:buClr>
              <a:buSzPts val="1100"/>
              <a:buFont typeface="Calibri"/>
              <a:buNone/>
            </a:pPr>
            <a:r>
              <a:rPr b="1" i="0" lang="en-US" sz="1100" u="none" cap="none" strike="noStrike">
                <a:solidFill>
                  <a:srgbClr val="1C7293"/>
                </a:solidFill>
                <a:latin typeface="Calibri"/>
                <a:ea typeface="Calibri"/>
                <a:cs typeface="Calibri"/>
                <a:sym typeface="Calibri"/>
              </a:rPr>
              <a:t>SECTION 03</a:t>
            </a:r>
            <a:endParaRPr b="0" i="0" sz="1100" u="none" cap="none" strike="noStrike">
              <a:solidFill>
                <a:schemeClr val="dk1"/>
              </a:solidFill>
              <a:latin typeface="Calibri"/>
              <a:ea typeface="Calibri"/>
              <a:cs typeface="Calibri"/>
              <a:sym typeface="Calibri"/>
            </a:endParaRPr>
          </a:p>
        </p:txBody>
      </p:sp>
      <p:sp>
        <p:nvSpPr>
          <p:cNvPr id="90" name="Google Shape;90;p6"/>
          <p:cNvSpPr/>
          <p:nvPr/>
        </p:nvSpPr>
        <p:spPr>
          <a:xfrm>
            <a:off x="1234440" y="676656"/>
            <a:ext cx="96926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Objectives</a:t>
            </a:r>
            <a:endParaRPr b="0" i="0" sz="3000" u="none" cap="none" strike="noStrike">
              <a:solidFill>
                <a:schemeClr val="dk1"/>
              </a:solidFill>
              <a:latin typeface="Calibri"/>
              <a:ea typeface="Calibri"/>
              <a:cs typeface="Calibri"/>
              <a:sym typeface="Calibri"/>
            </a:endParaRPr>
          </a:p>
        </p:txBody>
      </p:sp>
      <p:sp>
        <p:nvSpPr>
          <p:cNvPr id="91" name="Google Shape;91;p6"/>
          <p:cNvSpPr/>
          <p:nvPr/>
        </p:nvSpPr>
        <p:spPr>
          <a:xfrm>
            <a:off x="1234415" y="1632220"/>
            <a:ext cx="4663500" cy="1828800"/>
          </a:xfrm>
          <a:prstGeom prst="roundRect">
            <a:avLst>
              <a:gd fmla="val 5000" name="adj"/>
            </a:avLst>
          </a:prstGeom>
          <a:solidFill>
            <a:srgbClr val="FFFFFF"/>
          </a:solidFill>
          <a:ln cap="flat" cmpd="sng" w="12700">
            <a:solidFill>
              <a:srgbClr val="DEE4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6"/>
          <p:cNvSpPr/>
          <p:nvPr/>
        </p:nvSpPr>
        <p:spPr>
          <a:xfrm>
            <a:off x="1463040" y="2089420"/>
            <a:ext cx="100584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9D8E8"/>
              </a:buClr>
              <a:buSzPts val="4000"/>
              <a:buFont typeface="Cambria"/>
              <a:buNone/>
            </a:pPr>
            <a:r>
              <a:rPr b="1" i="0" lang="en-US" sz="4000" u="none" cap="none" strike="noStrike">
                <a:solidFill>
                  <a:srgbClr val="C9D8E8"/>
                </a:solidFill>
                <a:latin typeface="Cambria"/>
                <a:ea typeface="Cambria"/>
                <a:cs typeface="Cambria"/>
                <a:sym typeface="Cambria"/>
              </a:rPr>
              <a:t>01</a:t>
            </a:r>
            <a:endParaRPr b="0" i="0" sz="4000" u="none" cap="none" strike="noStrike">
              <a:solidFill>
                <a:schemeClr val="dk1"/>
              </a:solidFill>
              <a:latin typeface="Calibri"/>
              <a:ea typeface="Calibri"/>
              <a:cs typeface="Calibri"/>
              <a:sym typeface="Calibri"/>
            </a:endParaRPr>
          </a:p>
        </p:txBody>
      </p:sp>
      <p:sp>
        <p:nvSpPr>
          <p:cNvPr id="93" name="Google Shape;93;p6"/>
          <p:cNvSpPr/>
          <p:nvPr/>
        </p:nvSpPr>
        <p:spPr>
          <a:xfrm>
            <a:off x="2423160" y="1860820"/>
            <a:ext cx="32919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500"/>
              </a:spcAft>
              <a:buNone/>
            </a:pPr>
            <a:r>
              <a:rPr lang="en-US" sz="1500" b="1" i="0" u="none" cap="none" strike="noStrike">
                <a:solidFill>
                  <a:srgbClr val="21295C"/>
                </a:solidFill>
                <a:latin typeface="Calibri"/>
                <a:ea typeface="Calibri"/>
                <a:cs typeface="Calibri"/>
                <a:sym typeface="Calibri"/>
              </a:rPr>
              <a:t xml:space="preserve">Predict Pass / Fail</a:t>
            </a:r>
          </a:p>
          <a:p>
            <a:pPr indent="0" lvl="0" marL="0" marR="0" rtl="0" algn="l">
              <a:lnSpc>
                <a:spcPct val="110000"/>
              </a:lnSpc>
              <a:spcBef>
                <a:spcPts val="0"/>
              </a:spcBef>
              <a:spcAft>
                <a:spcPts val="0"/>
              </a:spcAft>
              <a:buNone/>
            </a:pPr>
            <a:r>
              <a:rPr lang="en-US" sz="1200" b="0" i="0" u="none" cap="none" strike="noStrike">
                <a:solidFill>
                  <a:srgbClr val="1B1F3B"/>
                </a:solidFill>
                <a:latin typeface="Calibri"/>
                <a:ea typeface="Calibri"/>
                <a:cs typeface="Calibri"/>
                <a:sym typeface="Calibri"/>
              </a:rPr>
              <a:t xml:space="preserve">Train a Logistic Regression model on the Kaggle Students Performance in Exams dataset (1,000 students).</a:t>
            </a:r>
          </a:p>
        </p:txBody>
      </p:sp>
      <p:sp>
        <p:nvSpPr>
          <p:cNvPr id="94" name="Google Shape;94;p6"/>
          <p:cNvSpPr/>
          <p:nvPr/>
        </p:nvSpPr>
        <p:spPr>
          <a:xfrm>
            <a:off x="6355055" y="1632220"/>
            <a:ext cx="4663500" cy="1828800"/>
          </a:xfrm>
          <a:prstGeom prst="roundRect">
            <a:avLst>
              <a:gd fmla="val 5000" name="adj"/>
            </a:avLst>
          </a:prstGeom>
          <a:solidFill>
            <a:srgbClr val="FFFFFF"/>
          </a:solidFill>
          <a:ln cap="flat" cmpd="sng" w="12700">
            <a:solidFill>
              <a:srgbClr val="DEE4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6"/>
          <p:cNvSpPr/>
          <p:nvPr/>
        </p:nvSpPr>
        <p:spPr>
          <a:xfrm>
            <a:off x="6583680" y="2089420"/>
            <a:ext cx="100584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9D8E8"/>
              </a:buClr>
              <a:buSzPts val="4000"/>
              <a:buFont typeface="Cambria"/>
              <a:buNone/>
            </a:pPr>
            <a:r>
              <a:rPr b="1" i="0" lang="en-US" sz="4000" u="none" cap="none" strike="noStrike">
                <a:solidFill>
                  <a:srgbClr val="C9D8E8"/>
                </a:solidFill>
                <a:latin typeface="Cambria"/>
                <a:ea typeface="Cambria"/>
                <a:cs typeface="Cambria"/>
                <a:sym typeface="Cambria"/>
              </a:rPr>
              <a:t>02</a:t>
            </a:r>
            <a:endParaRPr b="0" i="0" sz="4000" u="none" cap="none" strike="noStrike">
              <a:solidFill>
                <a:schemeClr val="dk1"/>
              </a:solidFill>
              <a:latin typeface="Calibri"/>
              <a:ea typeface="Calibri"/>
              <a:cs typeface="Calibri"/>
              <a:sym typeface="Calibri"/>
            </a:endParaRPr>
          </a:p>
        </p:txBody>
      </p:sp>
      <p:sp>
        <p:nvSpPr>
          <p:cNvPr id="96" name="Google Shape;96;p6"/>
          <p:cNvSpPr/>
          <p:nvPr/>
        </p:nvSpPr>
        <p:spPr>
          <a:xfrm>
            <a:off x="7543775" y="1860820"/>
            <a:ext cx="32919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500"/>
              </a:spcAft>
              <a:buNone/>
            </a:pPr>
            <a:r>
              <a:rPr lang="en-US" sz="1500" b="1" i="0" u="none" cap="none" strike="noStrike">
                <a:solidFill>
                  <a:srgbClr val="21295C"/>
                </a:solidFill>
                <a:latin typeface="Calibri"/>
                <a:ea typeface="Calibri"/>
                <a:cs typeface="Calibri"/>
                <a:sym typeface="Calibri"/>
              </a:rPr>
              <a:t xml:space="preserve">Evaluate &amp; Explain</a:t>
            </a:r>
          </a:p>
          <a:p>
            <a:pPr indent="0" lvl="0" marL="0" marR="0" rtl="0" algn="l">
              <a:lnSpc>
                <a:spcPct val="110000"/>
              </a:lnSpc>
              <a:spcBef>
                <a:spcPts val="0"/>
              </a:spcBef>
              <a:spcAft>
                <a:spcPts val="0"/>
              </a:spcAft>
              <a:buNone/>
            </a:pPr>
            <a:r>
              <a:rPr lang="en-US" sz="1200" b="0" i="0" u="none" cap="none" strike="noStrike">
                <a:solidFill>
                  <a:srgbClr val="1B1F3B"/>
                </a:solidFill>
                <a:latin typeface="Calibri"/>
                <a:ea typeface="Calibri"/>
                <a:cs typeface="Calibri"/>
                <a:sym typeface="Calibri"/>
              </a:rPr>
              <a:t xml:space="preserve">Measure accuracy, precision, recall, F1-score and confusion matrix; find key factors such as subject scores and test preparation.</a:t>
            </a:r>
          </a:p>
        </p:txBody>
      </p:sp>
      <p:sp>
        <p:nvSpPr>
          <p:cNvPr id="97" name="Google Shape;97;p6"/>
          <p:cNvSpPr/>
          <p:nvPr/>
        </p:nvSpPr>
        <p:spPr>
          <a:xfrm>
            <a:off x="1234440" y="4160520"/>
            <a:ext cx="4663440" cy="1828800"/>
          </a:xfrm>
          <a:prstGeom prst="roundRect">
            <a:avLst>
              <a:gd fmla="val 5000" name="adj"/>
            </a:avLst>
          </a:prstGeom>
          <a:solidFill>
            <a:srgbClr val="FFFFFF"/>
          </a:solidFill>
          <a:ln cap="flat" cmpd="sng" w="12700">
            <a:solidFill>
              <a:srgbClr val="DEE4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6"/>
          <p:cNvSpPr/>
          <p:nvPr/>
        </p:nvSpPr>
        <p:spPr>
          <a:xfrm>
            <a:off x="1463040" y="4617720"/>
            <a:ext cx="100584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9D8E8"/>
              </a:buClr>
              <a:buSzPts val="4000"/>
              <a:buFont typeface="Cambria"/>
              <a:buNone/>
            </a:pPr>
            <a:r>
              <a:rPr b="1" i="0" lang="en-US" sz="4000" u="none" cap="none" strike="noStrike">
                <a:solidFill>
                  <a:srgbClr val="C9D8E8"/>
                </a:solidFill>
                <a:latin typeface="Cambria"/>
                <a:ea typeface="Cambria"/>
                <a:cs typeface="Cambria"/>
                <a:sym typeface="Cambria"/>
              </a:rPr>
              <a:t>03</a:t>
            </a:r>
            <a:endParaRPr b="0" i="0" sz="4000" u="none" cap="none" strike="noStrike">
              <a:solidFill>
                <a:schemeClr val="dk1"/>
              </a:solidFill>
              <a:latin typeface="Calibri"/>
              <a:ea typeface="Calibri"/>
              <a:cs typeface="Calibri"/>
              <a:sym typeface="Calibri"/>
            </a:endParaRPr>
          </a:p>
        </p:txBody>
      </p:sp>
      <p:sp>
        <p:nvSpPr>
          <p:cNvPr id="99" name="Google Shape;99;p6"/>
          <p:cNvSpPr/>
          <p:nvPr/>
        </p:nvSpPr>
        <p:spPr>
          <a:xfrm>
            <a:off x="2423160" y="4389120"/>
            <a:ext cx="329184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500"/>
              </a:spcAft>
              <a:buNone/>
            </a:pPr>
            <a:r>
              <a:rPr lang="en-US" sz="1500" b="1" i="0" u="none" cap="none" strike="noStrike">
                <a:solidFill>
                  <a:srgbClr val="21295C"/>
                </a:solidFill>
                <a:latin typeface="Calibri"/>
                <a:ea typeface="Calibri"/>
                <a:cs typeface="Calibri"/>
                <a:sym typeface="Calibri"/>
              </a:rPr>
              <a:t xml:space="preserve">Personalized Insight</a:t>
            </a:r>
          </a:p>
          <a:p>
            <a:pPr indent="0" lvl="0" marL="0" marR="0" rtl="0" algn="l">
              <a:lnSpc>
                <a:spcPct val="110000"/>
              </a:lnSpc>
              <a:spcBef>
                <a:spcPts val="0"/>
              </a:spcBef>
              <a:spcAft>
                <a:spcPts val="0"/>
              </a:spcAft>
              <a:buNone/>
            </a:pPr>
            <a:r>
              <a:rPr lang="en-US" sz="1200" b="0" i="0" u="none" cap="none" strike="noStrike">
                <a:solidFill>
                  <a:srgbClr val="1B1F3B"/>
                </a:solidFill>
                <a:latin typeface="Calibri"/>
                <a:ea typeface="Calibri"/>
                <a:cs typeface="Calibri"/>
                <a:sym typeface="Calibri"/>
              </a:rPr>
              <a:t xml:space="preserve">Show each student their own pass percentage and the subject in which they are comparatively weakest.</a:t>
            </a:r>
          </a:p>
        </p:txBody>
      </p:sp>
      <p:sp>
        <p:nvSpPr>
          <p:cNvPr id="100" name="Google Shape;100;p6"/>
          <p:cNvSpPr/>
          <p:nvPr/>
        </p:nvSpPr>
        <p:spPr>
          <a:xfrm>
            <a:off x="6355080" y="4160520"/>
            <a:ext cx="4663440" cy="1828800"/>
          </a:xfrm>
          <a:prstGeom prst="roundRect">
            <a:avLst>
              <a:gd fmla="val 5000" name="adj"/>
            </a:avLst>
          </a:prstGeom>
          <a:solidFill>
            <a:srgbClr val="FFFFFF"/>
          </a:solidFill>
          <a:ln cap="flat" cmpd="sng" w="12700">
            <a:solidFill>
              <a:srgbClr val="DEE4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6"/>
          <p:cNvSpPr/>
          <p:nvPr/>
        </p:nvSpPr>
        <p:spPr>
          <a:xfrm>
            <a:off x="6583680" y="4617720"/>
            <a:ext cx="100584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9D8E8"/>
              </a:buClr>
              <a:buSzPts val="4000"/>
              <a:buFont typeface="Cambria"/>
              <a:buNone/>
            </a:pPr>
            <a:r>
              <a:rPr b="1" i="0" lang="en-US" sz="4000" u="none" cap="none" strike="noStrike">
                <a:solidFill>
                  <a:srgbClr val="C9D8E8"/>
                </a:solidFill>
                <a:latin typeface="Cambria"/>
                <a:ea typeface="Cambria"/>
                <a:cs typeface="Cambria"/>
                <a:sym typeface="Cambria"/>
              </a:rPr>
              <a:t>04</a:t>
            </a:r>
            <a:endParaRPr b="0" i="0" sz="4000" u="none" cap="none" strike="noStrike">
              <a:solidFill>
                <a:schemeClr val="dk1"/>
              </a:solidFill>
              <a:latin typeface="Calibri"/>
              <a:ea typeface="Calibri"/>
              <a:cs typeface="Calibri"/>
              <a:sym typeface="Calibri"/>
            </a:endParaRPr>
          </a:p>
        </p:txBody>
      </p:sp>
      <p:sp>
        <p:nvSpPr>
          <p:cNvPr id="102" name="Google Shape;102;p6"/>
          <p:cNvSpPr/>
          <p:nvPr/>
        </p:nvSpPr>
        <p:spPr>
          <a:xfrm>
            <a:off x="7543800" y="4389120"/>
            <a:ext cx="329184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500"/>
              </a:spcAft>
              <a:buNone/>
            </a:pPr>
            <a:r>
              <a:rPr lang="en-US" sz="1500" b="1" i="0" u="none" cap="none" strike="noStrike">
                <a:solidFill>
                  <a:srgbClr val="21295C"/>
                </a:solidFill>
                <a:latin typeface="Calibri"/>
                <a:ea typeface="Calibri"/>
                <a:cs typeface="Calibri"/>
                <a:sym typeface="Calibri"/>
              </a:rPr>
              <a:t xml:space="preserve">Recommend &amp; Visualize</a:t>
            </a:r>
          </a:p>
          <a:p>
            <a:pPr indent="0" lvl="0" marL="0" marR="0" rtl="0" algn="l">
              <a:lnSpc>
                <a:spcPct val="110000"/>
              </a:lnSpc>
              <a:spcBef>
                <a:spcPts val="0"/>
              </a:spcBef>
              <a:spcAft>
                <a:spcPts val="0"/>
              </a:spcAft>
              <a:buNone/>
            </a:pPr>
            <a:r>
              <a:rPr lang="en-US" sz="1200" b="0" i="0" u="none" cap="none" strike="noStrike">
                <a:solidFill>
                  <a:srgbClr val="1B1F3B"/>
                </a:solidFill>
                <a:latin typeface="Calibri"/>
                <a:ea typeface="Calibri"/>
                <a:cs typeface="Calibri"/>
                <a:sym typeface="Calibri"/>
              </a:rPr>
              <a:t xml:space="preserve">Give a per-student “study this subject” report with charts of pass/fail distribution and weak areas.</a:t>
            </a:r>
          </a:p>
        </p:txBody>
      </p:sp>
      <p:sp>
        <p:nvSpPr>
          <p:cNvPr id="103" name="Google Shape;103;p6"/>
          <p:cNvSpPr/>
          <p:nvPr/>
        </p:nvSpPr>
        <p:spPr>
          <a:xfrm>
            <a:off x="502920" y="6519672"/>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B.TECH THIRD YEAR  ·  MINI PROJECT PRESENTATION</a:t>
            </a:r>
            <a:endParaRPr b="0" i="0" sz="900" u="none" cap="none" strike="noStrike">
              <a:solidFill>
                <a:schemeClr val="dk1"/>
              </a:solidFill>
              <a:latin typeface="Calibri"/>
              <a:ea typeface="Calibri"/>
              <a:cs typeface="Calibri"/>
              <a:sym typeface="Calibri"/>
            </a:endParaRPr>
          </a:p>
        </p:txBody>
      </p:sp>
      <p:sp>
        <p:nvSpPr>
          <p:cNvPr id="104" name="Google Shape;104;p6"/>
          <p:cNvSpPr/>
          <p:nvPr/>
        </p:nvSpPr>
        <p:spPr>
          <a:xfrm>
            <a:off x="11228832" y="6519672"/>
            <a:ext cx="45720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109" name="Shape 109"/>
        <p:cNvGrpSpPr/>
        <p:nvPr/>
      </p:nvGrpSpPr>
      <p:grpSpPr>
        <a:xfrm>
          <a:off x="0" y="0"/>
          <a:ext cx="0" cy="0"/>
          <a:chOff x="0" y="0"/>
          <a:chExt cx="0" cy="0"/>
        </a:xfrm>
      </p:grpSpPr>
      <p:sp>
        <p:nvSpPr>
          <p:cNvPr id="110" name="Google Shape;110;p7"/>
          <p:cNvSpPr/>
          <p:nvPr/>
        </p:nvSpPr>
        <p:spPr>
          <a:xfrm>
            <a:off x="-1097280" y="5669280"/>
            <a:ext cx="2194560" cy="2194560"/>
          </a:xfrm>
          <a:prstGeom prst="ellipse">
            <a:avLst/>
          </a:prstGeom>
          <a:solidFill>
            <a:srgbClr val="21295C">
              <a:alpha val="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7"/>
          <p:cNvSpPr/>
          <p:nvPr/>
        </p:nvSpPr>
        <p:spPr>
          <a:xfrm>
            <a:off x="502920" y="457200"/>
            <a:ext cx="530352" cy="530352"/>
          </a:xfrm>
          <a:prstGeom prst="roundRect">
            <a:avLst>
              <a:gd fmla="val 20690" name="adj"/>
            </a:avLst>
          </a:prstGeom>
          <a:solidFill>
            <a:srgbClr val="2129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7"/>
          <p:cNvSpPr/>
          <p:nvPr/>
        </p:nvSpPr>
        <p:spPr>
          <a:xfrm>
            <a:off x="502920" y="457200"/>
            <a:ext cx="530352" cy="5303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04</a:t>
            </a:r>
            <a:endParaRPr b="0" i="0" sz="1600" u="none" cap="none" strike="noStrike">
              <a:solidFill>
                <a:schemeClr val="dk1"/>
              </a:solidFill>
              <a:latin typeface="Calibri"/>
              <a:ea typeface="Calibri"/>
              <a:cs typeface="Calibri"/>
              <a:sym typeface="Calibri"/>
            </a:endParaRPr>
          </a:p>
        </p:txBody>
      </p:sp>
      <p:sp>
        <p:nvSpPr>
          <p:cNvPr id="113" name="Google Shape;113;p7"/>
          <p:cNvSpPr/>
          <p:nvPr/>
        </p:nvSpPr>
        <p:spPr>
          <a:xfrm>
            <a:off x="1234440" y="429768"/>
            <a:ext cx="8686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C7293"/>
              </a:buClr>
              <a:buSzPts val="1100"/>
              <a:buFont typeface="Calibri"/>
              <a:buNone/>
            </a:pPr>
            <a:r>
              <a:rPr b="1" i="0" lang="en-US" sz="1100" u="none" cap="none" strike="noStrike">
                <a:solidFill>
                  <a:srgbClr val="1C7293"/>
                </a:solidFill>
                <a:latin typeface="Calibri"/>
                <a:ea typeface="Calibri"/>
                <a:cs typeface="Calibri"/>
                <a:sym typeface="Calibri"/>
              </a:rPr>
              <a:t>SECTION 04</a:t>
            </a:r>
            <a:endParaRPr b="0" i="0" sz="1100" u="none" cap="none" strike="noStrike">
              <a:solidFill>
                <a:schemeClr val="dk1"/>
              </a:solidFill>
              <a:latin typeface="Calibri"/>
              <a:ea typeface="Calibri"/>
              <a:cs typeface="Calibri"/>
              <a:sym typeface="Calibri"/>
            </a:endParaRPr>
          </a:p>
        </p:txBody>
      </p:sp>
      <p:sp>
        <p:nvSpPr>
          <p:cNvPr id="114" name="Google Shape;114;p7"/>
          <p:cNvSpPr/>
          <p:nvPr/>
        </p:nvSpPr>
        <p:spPr>
          <a:xfrm>
            <a:off x="1234440" y="676656"/>
            <a:ext cx="96926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Technology Stack</a:t>
            </a:r>
            <a:endParaRPr b="0" i="0" sz="3000" u="none" cap="none" strike="noStrike">
              <a:solidFill>
                <a:schemeClr val="dk1"/>
              </a:solidFill>
              <a:latin typeface="Calibri"/>
              <a:ea typeface="Calibri"/>
              <a:cs typeface="Calibri"/>
              <a:sym typeface="Calibri"/>
            </a:endParaRPr>
          </a:p>
        </p:txBody>
      </p:sp>
      <p:sp>
        <p:nvSpPr>
          <p:cNvPr id="115" name="Google Shape;115;p7"/>
          <p:cNvSpPr/>
          <p:nvPr/>
        </p:nvSpPr>
        <p:spPr>
          <a:xfrm>
            <a:off x="1234475" y="1543875"/>
            <a:ext cx="9849000" cy="4445400"/>
          </a:xfrm>
          <a:prstGeom prst="roundRect">
            <a:avLst>
              <a:gd fmla="val 2817" name="adj"/>
            </a:avLst>
          </a:prstGeom>
          <a:solidFill>
            <a:srgbClr val="FFFFFF"/>
          </a:solidFill>
          <a:ln cap="flat" cmpd="sng" w="12700">
            <a:solidFill>
              <a:srgbClr val="DEE4EF"/>
            </a:solidFill>
            <a:prstDash val="solid"/>
            <a:round/>
            <a:headEnd len="sm" w="sm" type="none"/>
            <a:tailEnd len="sm" w="sm" type="none"/>
          </a:ln>
        </p:spPr>
        <p:txBody>
          <a:bodyPr anchorCtr="0" anchor="ctr" bIns="91425" lIns="457200" spcFirstLastPara="1" rIns="91425" wrap="square" tIns="91425">
            <a:noAutofit/>
          </a:bodyPr>
          <a:lstStyle/>
          <a:p>
            <a:pPr indent="0" lvl="0" marL="0" marR="0" rtl="0" algn="l">
              <a:lnSpc>
                <a:spcPct val="100000"/>
              </a:lnSpc>
              <a:spcBef>
                <a:spcPts val="0"/>
              </a:spcBef>
              <a:spcAft>
                <a:spcPts val="1500"/>
              </a:spcAft>
              <a:buNone/>
            </a:pPr>
            <a:r>
              <a:rPr lang="en-US" sz="1500" b="1" i="0" u="none" cap="none" strike="noStrike">
                <a:solidFill>
                  <a:srgbClr val="1C7293"/>
                </a:solidFill>
                <a:latin typeface="Calibri"/>
                <a:ea typeface="Calibri"/>
                <a:cs typeface="Calibri"/>
                <a:sym typeface="Calibri"/>
              </a:rPr>
              <a:t xml:space="preserve">Programming Language</a:t>
            </a:r>
          </a:p>
          <a:p>
            <a:pPr indent="0" lvl="0" marL="0" marR="0" rtl="0" algn="l">
              <a:lnSpc>
                <a:spcPct val="100000"/>
              </a:lnSpc>
              <a:spcBef>
                <a:spcPts val="0"/>
              </a:spcBef>
              <a:spcAft>
                <a:spcPts val="1500"/>
              </a:spcAft>
              <a:buNone/>
            </a:pPr>
            <a:r>
              <a:rPr lang="en-US" sz="1500" b="1" i="0" u="none" cap="none" strike="noStrike">
                <a:solidFill>
                  <a:srgbClr val="1C7293"/>
                </a:solidFill>
                <a:latin typeface="Calibri"/>
                <a:ea typeface="Calibri"/>
                <a:cs typeface="Calibri"/>
                <a:sym typeface="Calibri"/>
              </a:rPr>
              <a:t xml:space="preserve">ML Algorithm</a:t>
            </a:r>
          </a:p>
          <a:p>
            <a:pPr indent="0" lvl="0" marL="0" marR="0" rtl="0" algn="l">
              <a:lnSpc>
                <a:spcPct val="100000"/>
              </a:lnSpc>
              <a:spcBef>
                <a:spcPts val="0"/>
              </a:spcBef>
              <a:spcAft>
                <a:spcPts val="1500"/>
              </a:spcAft>
              <a:buNone/>
            </a:pPr>
            <a:r>
              <a:rPr lang="en-US" sz="1500" b="1" i="0" u="none" cap="none" strike="noStrike">
                <a:solidFill>
                  <a:srgbClr val="1C7293"/>
                </a:solidFill>
                <a:latin typeface="Calibri"/>
                <a:ea typeface="Calibri"/>
                <a:cs typeface="Calibri"/>
                <a:sym typeface="Calibri"/>
              </a:rPr>
              <a:t xml:space="preserve">ML Library</a:t>
            </a:r>
          </a:p>
          <a:p>
            <a:pPr indent="0" lvl="0" marL="0" marR="0" rtl="0" algn="l">
              <a:lnSpc>
                <a:spcPct val="100000"/>
              </a:lnSpc>
              <a:spcBef>
                <a:spcPts val="0"/>
              </a:spcBef>
              <a:spcAft>
                <a:spcPts val="1500"/>
              </a:spcAft>
              <a:buNone/>
            </a:pPr>
            <a:r>
              <a:rPr lang="en-US" sz="1500" b="1" i="0" u="none" cap="none" strike="noStrike">
                <a:solidFill>
                  <a:srgbClr val="1C7293"/>
                </a:solidFill>
                <a:latin typeface="Calibri"/>
                <a:ea typeface="Calibri"/>
                <a:cs typeface="Calibri"/>
                <a:sym typeface="Calibri"/>
              </a:rPr>
              <a:t xml:space="preserve">Data Processing</a:t>
            </a:r>
          </a:p>
          <a:p>
            <a:pPr indent="0" lvl="0" marL="0" marR="0" rtl="0" algn="l">
              <a:lnSpc>
                <a:spcPct val="100000"/>
              </a:lnSpc>
              <a:spcBef>
                <a:spcPts val="0"/>
              </a:spcBef>
              <a:spcAft>
                <a:spcPts val="1500"/>
              </a:spcAft>
              <a:buNone/>
            </a:pPr>
            <a:r>
              <a:rPr lang="en-US" sz="1500" b="1" i="0" u="none" cap="none" strike="noStrike">
                <a:solidFill>
                  <a:srgbClr val="1C7293"/>
                </a:solidFill>
                <a:latin typeface="Calibri"/>
                <a:ea typeface="Calibri"/>
                <a:cs typeface="Calibri"/>
                <a:sym typeface="Calibri"/>
              </a:rPr>
              <a:t xml:space="preserve">Data Visualization</a:t>
            </a:r>
          </a:p>
          <a:p>
            <a:pPr indent="0" lvl="0" marL="0" marR="0" rtl="0" algn="l">
              <a:lnSpc>
                <a:spcPct val="100000"/>
              </a:lnSpc>
              <a:spcBef>
                <a:spcPts val="0"/>
              </a:spcBef>
              <a:spcAft>
                <a:spcPts val="1500"/>
              </a:spcAft>
              <a:buNone/>
            </a:pPr>
            <a:r>
              <a:rPr lang="en-US" sz="1500" b="1" i="0" u="none" cap="none" strike="noStrike">
                <a:solidFill>
                  <a:srgbClr val="1C7293"/>
                </a:solidFill>
                <a:latin typeface="Calibri"/>
                <a:ea typeface="Calibri"/>
                <a:cs typeface="Calibri"/>
                <a:sym typeface="Calibri"/>
              </a:rPr>
              <a:t xml:space="preserve">Dataset Source</a:t>
            </a:r>
          </a:p>
          <a:p>
            <a:pPr indent="0" lvl="0" marL="0" marR="0" rtl="0" algn="l">
              <a:lnSpc>
                <a:spcPct val="100000"/>
              </a:lnSpc>
              <a:spcBef>
                <a:spcPts val="0"/>
              </a:spcBef>
              <a:spcAft>
                <a:spcPts val="1500"/>
              </a:spcAft>
              <a:buNone/>
            </a:pPr>
            <a:r>
              <a:rPr lang="en-US" sz="1500" b="1" i="0" u="none" cap="none" strike="noStrike">
                <a:solidFill>
                  <a:srgbClr val="1C7293"/>
                </a:solidFill>
                <a:latin typeface="Calibri"/>
                <a:ea typeface="Calibri"/>
                <a:cs typeface="Calibri"/>
                <a:sym typeface="Calibri"/>
              </a:rPr>
              <a:t xml:space="preserve">Environment &amp; Hardware</a:t>
            </a:r>
          </a:p>
        </p:txBody>
      </p:sp>
      <p:sp>
        <p:nvSpPr>
          <p:cNvPr id="116" name="Google Shape;116;p7"/>
          <p:cNvSpPr/>
          <p:nvPr/>
        </p:nvSpPr>
        <p:spPr>
          <a:xfrm>
            <a:off x="502920" y="6519672"/>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B.TECH THIRD YEAR  ·  MINI PROJECT PRESENTATION</a:t>
            </a:r>
            <a:endParaRPr b="0" i="0" sz="900" u="none" cap="none" strike="noStrike">
              <a:solidFill>
                <a:schemeClr val="dk1"/>
              </a:solidFill>
              <a:latin typeface="Calibri"/>
              <a:ea typeface="Calibri"/>
              <a:cs typeface="Calibri"/>
              <a:sym typeface="Calibri"/>
            </a:endParaRPr>
          </a:p>
        </p:txBody>
      </p:sp>
      <p:sp>
        <p:nvSpPr>
          <p:cNvPr id="117" name="Google Shape;117;p7"/>
          <p:cNvSpPr/>
          <p:nvPr/>
        </p:nvSpPr>
        <p:spPr>
          <a:xfrm>
            <a:off x="11228832" y="6519672"/>
            <a:ext cx="45720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
        <p:nvSpPr>
          <p:cNvPr id="301" name="Tech Values"/>
          <p:cNvSpPr txBox="1"/>
          <p:nvPr/>
        </p:nvSpPr>
        <p:spPr>
          <a:xfrm>
            <a:off x="4300000" y="1543875"/>
            <a:ext cx="6600000" cy="4445400"/>
          </a:xfrm>
          <a:prstGeom prst="rect">
            <a:avLst/>
          </a:prstGeom>
          <a:noFill/>
        </p:spPr>
        <p:txBody>
          <a:bodyPr anchor="ctr" wrap="square" lIns="91425" rIns="91425" tIns="91425" bIns="91425">
            <a:noAutofit/>
          </a:bodyPr>
          <a:lstStyle/>
          <a:p>
            <a:pPr indent="0" lvl="0" marL="0" marR="0" rtl="0" algn="l">
              <a:lnSpc>
                <a:spcPct val="100000"/>
              </a:lnSpc>
              <a:spcBef>
                <a:spcPts val="0"/>
              </a:spcBef>
              <a:spcAft>
                <a:spcPts val="1500"/>
              </a:spcAft>
              <a:buNone/>
            </a:pPr>
            <a:r>
              <a:rPr lang="en-US" sz="1500" b="0" i="0" u="none" cap="none" strike="noStrike">
                <a:solidFill>
                  <a:srgbClr val="1B1F3B"/>
                </a:solidFill>
                <a:latin typeface="Calibri"/>
                <a:ea typeface="Calibri"/>
                <a:cs typeface="Calibri"/>
                <a:sym typeface="Calibri"/>
              </a:rPr>
              <a:t xml:space="preserve">Python</a:t>
            </a:r>
          </a:p>
          <a:p>
            <a:pPr indent="0" lvl="0" marL="0" marR="0" rtl="0" algn="l">
              <a:lnSpc>
                <a:spcPct val="100000"/>
              </a:lnSpc>
              <a:spcBef>
                <a:spcPts val="0"/>
              </a:spcBef>
              <a:spcAft>
                <a:spcPts val="1500"/>
              </a:spcAft>
              <a:buNone/>
            </a:pPr>
            <a:r>
              <a:rPr lang="en-US" sz="1500" b="0" i="0" u="none" cap="none" strike="noStrike">
                <a:solidFill>
                  <a:srgbClr val="1B1F3B"/>
                </a:solidFill>
                <a:latin typeface="Calibri"/>
                <a:ea typeface="Calibri"/>
                <a:cs typeface="Calibri"/>
                <a:sym typeface="Calibri"/>
              </a:rPr>
              <a:t xml:space="preserve">Logistic Regression (weak-area rule + probability scoring)</a:t>
            </a:r>
          </a:p>
          <a:p>
            <a:pPr indent="0" lvl="0" marL="0" marR="0" rtl="0" algn="l">
              <a:lnSpc>
                <a:spcPct val="100000"/>
              </a:lnSpc>
              <a:spcBef>
                <a:spcPts val="0"/>
              </a:spcBef>
              <a:spcAft>
                <a:spcPts val="1500"/>
              </a:spcAft>
              <a:buNone/>
            </a:pPr>
            <a:r>
              <a:rPr lang="en-US" sz="1500" b="0" i="0" u="none" cap="none" strike="noStrike">
                <a:solidFill>
                  <a:srgbClr val="1B1F3B"/>
                </a:solidFill>
                <a:latin typeface="Calibri"/>
                <a:ea typeface="Calibri"/>
                <a:cs typeface="Calibri"/>
                <a:sym typeface="Calibri"/>
              </a:rPr>
              <a:t xml:space="preserve">Scikit-learn</a:t>
            </a:r>
          </a:p>
          <a:p>
            <a:pPr indent="0" lvl="0" marL="0" marR="0" rtl="0" algn="l">
              <a:lnSpc>
                <a:spcPct val="100000"/>
              </a:lnSpc>
              <a:spcBef>
                <a:spcPts val="0"/>
              </a:spcBef>
              <a:spcAft>
                <a:spcPts val="1500"/>
              </a:spcAft>
              <a:buNone/>
            </a:pPr>
            <a:r>
              <a:rPr lang="en-US" sz="1500" b="0" i="0" u="none" cap="none" strike="noStrike">
                <a:solidFill>
                  <a:srgbClr val="1B1F3B"/>
                </a:solidFill>
                <a:latin typeface="Calibri"/>
                <a:ea typeface="Calibri"/>
                <a:cs typeface="Calibri"/>
                <a:sym typeface="Calibri"/>
              </a:rPr>
              <a:t xml:space="preserve">Pandas, NumPy</a:t>
            </a:r>
          </a:p>
          <a:p>
            <a:pPr indent="0" lvl="0" marL="0" marR="0" rtl="0" algn="l">
              <a:lnSpc>
                <a:spcPct val="100000"/>
              </a:lnSpc>
              <a:spcBef>
                <a:spcPts val="0"/>
              </a:spcBef>
              <a:spcAft>
                <a:spcPts val="1500"/>
              </a:spcAft>
              <a:buNone/>
            </a:pPr>
            <a:r>
              <a:rPr lang="en-US" sz="1500" b="0" i="0" u="none" cap="none" strike="noStrike">
                <a:solidFill>
                  <a:srgbClr val="1B1F3B"/>
                </a:solidFill>
                <a:latin typeface="Calibri"/>
                <a:ea typeface="Calibri"/>
                <a:cs typeface="Calibri"/>
                <a:sym typeface="Calibri"/>
              </a:rPr>
              <a:t xml:space="preserve">Matplotlib / Seaborn</a:t>
            </a:r>
          </a:p>
          <a:p>
            <a:pPr indent="0" lvl="0" marL="0" marR="0" rtl="0" algn="l">
              <a:lnSpc>
                <a:spcPct val="100000"/>
              </a:lnSpc>
              <a:spcBef>
                <a:spcPts val="0"/>
              </a:spcBef>
              <a:spcAft>
                <a:spcPts val="1500"/>
              </a:spcAft>
              <a:buNone/>
            </a:pPr>
            <a:r>
              <a:rPr lang="en-US" sz="1500" b="0" i="0" u="none" cap="none" strike="noStrike">
                <a:solidFill>
                  <a:srgbClr val="1B1F3B"/>
                </a:solidFill>
                <a:latin typeface="Calibri"/>
                <a:ea typeface="Calibri"/>
                <a:cs typeface="Calibri"/>
                <a:sym typeface="Calibri"/>
              </a:rPr>
              <a:t xml:space="preserve">Kaggle – Students Performance in Exams</a:t>
            </a:r>
          </a:p>
          <a:p>
            <a:pPr indent="0" lvl="0" marL="0" marR="0" rtl="0" algn="l">
              <a:lnSpc>
                <a:spcPct val="100000"/>
              </a:lnSpc>
              <a:spcBef>
                <a:spcPts val="0"/>
              </a:spcBef>
              <a:spcAft>
                <a:spcPts val="1500"/>
              </a:spcAft>
              <a:buNone/>
            </a:pPr>
            <a:r>
              <a:rPr lang="en-US" sz="1500" b="0" i="0" u="none" cap="none" strike="noStrike">
                <a:solidFill>
                  <a:srgbClr val="1B1F3B"/>
                </a:solidFill>
                <a:latin typeface="Calibri"/>
                <a:ea typeface="Calibri"/>
                <a:cs typeface="Calibri"/>
                <a:sym typeface="Calibri"/>
              </a:rPr>
              <a:t xml:space="preserve">Jupyter Notebook / VS Code  ·  Standard laptop / computer</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122" name="Shape 122"/>
        <p:cNvGrpSpPr/>
        <p:nvPr/>
      </p:nvGrpSpPr>
      <p:grpSpPr>
        <a:xfrm>
          <a:off x="0" y="0"/>
          <a:ext cx="0" cy="0"/>
          <a:chOff x="0" y="0"/>
          <a:chExt cx="0" cy="0"/>
        </a:xfrm>
      </p:grpSpPr>
      <p:sp>
        <p:nvSpPr>
          <p:cNvPr id="123" name="Google Shape;123;p8"/>
          <p:cNvSpPr/>
          <p:nvPr/>
        </p:nvSpPr>
        <p:spPr>
          <a:xfrm>
            <a:off x="10424160" y="-1463040"/>
            <a:ext cx="3108960" cy="3108960"/>
          </a:xfrm>
          <a:prstGeom prst="ellipse">
            <a:avLst/>
          </a:prstGeom>
          <a:solidFill>
            <a:srgbClr val="1C7293">
              <a:alpha val="784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8"/>
          <p:cNvSpPr/>
          <p:nvPr/>
        </p:nvSpPr>
        <p:spPr>
          <a:xfrm>
            <a:off x="-1097280" y="5669280"/>
            <a:ext cx="2194560" cy="2194560"/>
          </a:xfrm>
          <a:prstGeom prst="ellipse">
            <a:avLst/>
          </a:prstGeom>
          <a:solidFill>
            <a:srgbClr val="21295C">
              <a:alpha val="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8"/>
          <p:cNvSpPr/>
          <p:nvPr/>
        </p:nvSpPr>
        <p:spPr>
          <a:xfrm>
            <a:off x="502920" y="457200"/>
            <a:ext cx="530352" cy="530352"/>
          </a:xfrm>
          <a:prstGeom prst="roundRect">
            <a:avLst>
              <a:gd fmla="val 20690" name="adj"/>
            </a:avLst>
          </a:prstGeom>
          <a:solidFill>
            <a:srgbClr val="2129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8"/>
          <p:cNvSpPr/>
          <p:nvPr/>
        </p:nvSpPr>
        <p:spPr>
          <a:xfrm>
            <a:off x="502920" y="457200"/>
            <a:ext cx="530352" cy="5303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05</a:t>
            </a:r>
            <a:endParaRPr b="0" i="0" sz="1600" u="none" cap="none" strike="noStrike">
              <a:solidFill>
                <a:schemeClr val="dk1"/>
              </a:solidFill>
              <a:latin typeface="Calibri"/>
              <a:ea typeface="Calibri"/>
              <a:cs typeface="Calibri"/>
              <a:sym typeface="Calibri"/>
            </a:endParaRPr>
          </a:p>
        </p:txBody>
      </p:sp>
      <p:sp>
        <p:nvSpPr>
          <p:cNvPr id="127" name="Google Shape;127;p8"/>
          <p:cNvSpPr/>
          <p:nvPr/>
        </p:nvSpPr>
        <p:spPr>
          <a:xfrm>
            <a:off x="1234440" y="429768"/>
            <a:ext cx="8686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C7293"/>
              </a:buClr>
              <a:buSzPts val="1100"/>
              <a:buFont typeface="Calibri"/>
              <a:buNone/>
            </a:pPr>
            <a:r>
              <a:rPr b="1" i="0" lang="en-US" sz="1100" u="none" cap="none" strike="noStrike">
                <a:solidFill>
                  <a:srgbClr val="1C7293"/>
                </a:solidFill>
                <a:latin typeface="Calibri"/>
                <a:ea typeface="Calibri"/>
                <a:cs typeface="Calibri"/>
                <a:sym typeface="Calibri"/>
              </a:rPr>
              <a:t>SECTION 05</a:t>
            </a:r>
            <a:endParaRPr b="0" i="0" sz="1100" u="none" cap="none" strike="noStrike">
              <a:solidFill>
                <a:schemeClr val="dk1"/>
              </a:solidFill>
              <a:latin typeface="Calibri"/>
              <a:ea typeface="Calibri"/>
              <a:cs typeface="Calibri"/>
              <a:sym typeface="Calibri"/>
            </a:endParaRPr>
          </a:p>
        </p:txBody>
      </p:sp>
      <p:sp>
        <p:nvSpPr>
          <p:cNvPr id="128" name="Google Shape;128;p8"/>
          <p:cNvSpPr/>
          <p:nvPr/>
        </p:nvSpPr>
        <p:spPr>
          <a:xfrm>
            <a:off x="1234440" y="676656"/>
            <a:ext cx="96926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Literature Survey</a:t>
            </a:r>
            <a:endParaRPr b="0" i="0" sz="3000" u="none" cap="none" strike="noStrike">
              <a:solidFill>
                <a:schemeClr val="dk1"/>
              </a:solidFill>
              <a:latin typeface="Calibri"/>
              <a:ea typeface="Calibri"/>
              <a:cs typeface="Calibri"/>
              <a:sym typeface="Calibri"/>
            </a:endParaRPr>
          </a:p>
        </p:txBody>
      </p:sp>
      <p:graphicFrame>
        <p:nvGraphicFramePr>
          <p:cNvPr id="129" name="Google Shape;129;p8"/>
          <p:cNvGraphicFramePr/>
          <p:nvPr/>
        </p:nvGraphicFramePr>
        <p:xfrm>
          <a:off x="1234440" y="1600210"/>
          <a:ext cx="9692625" cy="4200000"/>
        </p:xfrm>
        <a:graphic>
          <a:graphicData uri="http://schemas.openxmlformats.org/drawingml/2006/table">
            <a:tbl>
              <a:tblPr>
                <a:noFill/>
                <a:tableStyleId>{DACFCA41-7221-4674-B144-DCA2F1B7582E}</a:tableStyleId>
              </a:tblPr>
              <a:tblGrid>
                <a:gridCol w="731525"/>
                <a:gridCol w="2743200"/>
                <a:gridCol w="2011675"/>
                <a:gridCol w="1737350"/>
                <a:gridCol w="2468875"/>
              </a:tblGrid>
              <a:tr h="500000">
                <a:tc>
                  <a:txBody>
                    <a:bodyPr/>
                    <a:lstStyle/>
                    <a:p>
                      <a:pPr indent="0" lvl="0" marL="0" marR="0" rtl="0" algn="ctr">
                        <a:lnSpc>
                          <a:spcPct val="100000"/>
                        </a:lnSpc>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S.No</a:t>
                      </a:r>
                      <a:endParaRPr sz="115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21295C"/>
                    </a:solidFill>
                  </a:tcPr>
                </a:tc>
                <a:tc>
                  <a:txBody>
                    <a:bodyPr/>
                    <a:lstStyle/>
                    <a:p>
                      <a:pPr indent="0" lvl="0" marL="0" marR="0" rtl="0" algn="ctr">
                        <a:lnSpc>
                          <a:spcPct val="100000"/>
                        </a:lnSpc>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Paper Title</a:t>
                      </a:r>
                      <a:endParaRPr sz="115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21295C"/>
                    </a:solidFill>
                  </a:tcPr>
                </a:tc>
                <a:tc>
                  <a:txBody>
                    <a:bodyPr/>
                    <a:lstStyle/>
                    <a:p>
                      <a:pPr indent="0" lvl="0" marL="0" marR="0" rtl="0" algn="ctr">
                        <a:lnSpc>
                          <a:spcPct val="100000"/>
                        </a:lnSpc>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Author(s)</a:t>
                      </a:r>
                      <a:endParaRPr sz="115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21295C"/>
                    </a:solidFill>
                  </a:tcPr>
                </a:tc>
                <a:tc>
                  <a:txBody>
                    <a:bodyPr/>
                    <a:lstStyle/>
                    <a:p>
                      <a:pPr indent="0" lvl="0" marL="0" marR="0" rtl="0" algn="ctr">
                        <a:lnSpc>
                          <a:spcPct val="100000"/>
                        </a:lnSpc>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Journal / Year</a:t>
                      </a:r>
                      <a:endParaRPr sz="115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21295C"/>
                    </a:solidFill>
                  </a:tcPr>
                </a:tc>
                <a:tc>
                  <a:txBody>
                    <a:bodyPr/>
                    <a:lstStyle/>
                    <a:p>
                      <a:pPr indent="0" lvl="0" marL="0" marR="0" rtl="0" algn="ctr">
                        <a:lnSpc>
                          <a:spcPct val="100000"/>
                        </a:lnSpc>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Key Findings</a:t>
                      </a:r>
                      <a:endParaRPr sz="115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21295C"/>
                    </a:solidFill>
                  </a:tcPr>
                </a:tc>
              </a:tr>
              <a:tr h="740000">
                <a:tc>
                  <a:txBody>
                    <a:bodyPr/>
                    <a:lstStyle/>
                    <a:p>
                      <a:pPr indent="0" lvl="0" marL="0" marR="0" rtl="0" algn="ctr">
                        <a:lnSpc>
                          <a:spcPct val="100000"/>
                        </a:lnSpc>
                        <a:spcBef>
                          <a:spcPts val="0"/>
                        </a:spcBef>
                        <a:spcAft>
                          <a:spcPts val="0"/>
                        </a:spcAft>
                        <a:buClr>
                          <a:srgbClr val="1B1F3B"/>
                        </a:buClr>
                        <a:buSzPts val="1100"/>
                        <a:buFont typeface="Calibri"/>
                        <a:buNone/>
                      </a:pPr>
                      <a:r>
                        <a:rPr i="0" lang="en-US" sz="1000" u="none" cap="none" strike="noStrike">
                          <a:solidFill>
                            <a:srgbClr val="1B1F3B"/>
                          </a:solidFill>
                          <a:latin typeface="Calibri"/>
                          <a:ea typeface="Calibri"/>
                          <a:cs typeface="Calibri"/>
                          <a:sym typeface="Calibri"/>
                        </a:rPr>
                        <a:t>[1]</a:t>
                      </a:r>
                      <a:endParaRPr sz="100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B1F3B"/>
                        </a:buClr>
                        <a:buSzPts val="1100"/>
                        <a:buFont typeface="Calibri"/>
                        <a:buNone/>
                      </a:pPr>
                      <a:r>
                        <a:rPr i="0" lang="en-US" sz="1000" u="none" cap="none" strike="noStrike">
                          <a:solidFill>
                            <a:srgbClr val="1B1F3B"/>
                          </a:solidFill>
                          <a:latin typeface="Calibri"/>
                          <a:ea typeface="Calibri"/>
                          <a:cs typeface="Calibri"/>
                          <a:sym typeface="Calibri"/>
                        </a:rPr>
                        <a:t>Using Data Mining to Predict Secondary School Student Performance</a:t>
                      </a:r>
                      <a:endParaRPr sz="100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B1F3B"/>
                        </a:buClr>
                        <a:buSzPts val="1100"/>
                        <a:buFont typeface="Calibri"/>
                        <a:buNone/>
                      </a:pPr>
                      <a:r>
                        <a:rPr i="0" lang="en-US" sz="1000" u="none" cap="none" strike="noStrike">
                          <a:solidFill>
                            <a:srgbClr val="1B1F3B"/>
                          </a:solidFill>
                          <a:latin typeface="Calibri"/>
                          <a:ea typeface="Calibri"/>
                          <a:cs typeface="Calibri"/>
                          <a:sym typeface="Calibri"/>
                        </a:rPr>
                        <a:t>P. Cortez, A. M. G. Silva</a:t>
                      </a:r>
                      <a:endParaRPr sz="100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B1F3B"/>
                        </a:buClr>
                        <a:buSzPts val="1100"/>
                        <a:buFont typeface="Calibri"/>
                        <a:buNone/>
                      </a:pPr>
                      <a:r>
                        <a:rPr i="0" lang="en-US" sz="1000" u="none" cap="none" strike="noStrike">
                          <a:solidFill>
                            <a:srgbClr val="1B1F3B"/>
                          </a:solidFill>
                          <a:latin typeface="Calibri"/>
                          <a:ea typeface="Calibri"/>
                          <a:cs typeface="Calibri"/>
                          <a:sym typeface="Calibri"/>
                        </a:rPr>
                        <a:t>FUBUTEC, 2008</a:t>
                      </a:r>
                      <a:endParaRPr sz="100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B1F3B"/>
                        </a:buClr>
                        <a:buSzPts val="1100"/>
                        <a:buFont typeface="Calibri"/>
                        <a:buNone/>
                      </a:pPr>
                      <a:r>
                        <a:rPr i="0" lang="en-US" sz="1000" u="none" cap="none" strike="noStrike">
                          <a:solidFill>
                            <a:srgbClr val="1B1F3B"/>
                          </a:solidFill>
                          <a:latin typeface="Calibri"/>
                          <a:ea typeface="Calibri"/>
                          <a:cs typeface="Calibri"/>
                          <a:sym typeface="Calibri"/>
                        </a:rPr>
                        <a:t>Early use of data mining on school records; demographics, family background and prior grades carry predictive signal.</a:t>
                      </a:r>
                      <a:endParaRPr sz="100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FFFFFF"/>
                    </a:solidFill>
                  </a:tcPr>
                </a:tc>
              </a:tr>
              <a:tr h="740000">
                <a:tc>
                  <a:txBody>
                    <a:bodyPr/>
                    <a:lstStyle/>
                    <a:p>
                      <a:pPr indent="0" lvl="0" marL="0" marR="0" rtl="0" algn="ctr">
                        <a:lnSpc>
                          <a:spcPct val="100000"/>
                        </a:lnSpc>
                        <a:spcBef>
                          <a:spcPts val="0"/>
                        </a:spcBef>
                        <a:spcAft>
                          <a:spcPts val="0"/>
                        </a:spcAft>
                        <a:buClr>
                          <a:srgbClr val="1B1F3B"/>
                        </a:buClr>
                        <a:buSzPts val="1100"/>
                        <a:buFont typeface="Calibri"/>
                        <a:buNone/>
                      </a:pPr>
                      <a:r>
                        <a:rPr i="0" lang="en-US" sz="1000" u="none" cap="none" strike="noStrike">
                          <a:solidFill>
                            <a:srgbClr val="1B1F3B"/>
                          </a:solidFill>
                          <a:latin typeface="Calibri"/>
                          <a:ea typeface="Calibri"/>
                          <a:cs typeface="Calibri"/>
                          <a:sym typeface="Calibri"/>
                        </a:rPr>
                        <a:t>[2]</a:t>
                      </a:r>
                      <a:endParaRPr sz="100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EAF1F6"/>
                    </a:solidFill>
                  </a:tcPr>
                </a:tc>
                <a:tc>
                  <a:txBody>
                    <a:bodyPr/>
                    <a:lstStyle/>
                    <a:p>
                      <a:pPr indent="0" lvl="0" marL="0" marR="0" rtl="0" algn="l">
                        <a:lnSpc>
                          <a:spcPct val="100000"/>
                        </a:lnSpc>
                        <a:spcBef>
                          <a:spcPts val="0"/>
                        </a:spcBef>
                        <a:spcAft>
                          <a:spcPts val="0"/>
                        </a:spcAft>
                        <a:buClr>
                          <a:srgbClr val="1B1F3B"/>
                        </a:buClr>
                        <a:buSzPts val="1100"/>
                        <a:buFont typeface="Calibri"/>
                        <a:buNone/>
                      </a:pPr>
                      <a:r>
                        <a:rPr i="0" lang="en-US" sz="1000" u="none" cap="none" strike="noStrike">
                          <a:solidFill>
                            <a:srgbClr val="1B1F3B"/>
                          </a:solidFill>
                          <a:latin typeface="Calibri"/>
                          <a:ea typeface="Calibri"/>
                          <a:cs typeface="Calibri"/>
                          <a:sym typeface="Calibri"/>
                        </a:rPr>
                        <a:t>Students Performance in Exams (dataset)</a:t>
                      </a:r>
                      <a:endParaRPr sz="100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EAF1F6"/>
                    </a:solidFill>
                  </a:tcPr>
                </a:tc>
                <a:tc>
                  <a:txBody>
                    <a:bodyPr/>
                    <a:lstStyle/>
                    <a:p>
                      <a:pPr indent="0" lvl="0" marL="0" marR="0" rtl="0" algn="l">
                        <a:lnSpc>
                          <a:spcPct val="100000"/>
                        </a:lnSpc>
                        <a:spcBef>
                          <a:spcPts val="0"/>
                        </a:spcBef>
                        <a:spcAft>
                          <a:spcPts val="0"/>
                        </a:spcAft>
                        <a:buClr>
                          <a:srgbClr val="1B1F3B"/>
                        </a:buClr>
                        <a:buSzPts val="1100"/>
                        <a:buFont typeface="Calibri"/>
                        <a:buNone/>
                      </a:pPr>
                      <a:r>
                        <a:rPr i="0" lang="en-US" sz="1000" u="none" cap="none" strike="noStrike">
                          <a:solidFill>
                            <a:srgbClr val="1B1F3B"/>
                          </a:solidFill>
                          <a:latin typeface="Calibri"/>
                          <a:ea typeface="Calibri"/>
                          <a:cs typeface="Calibri"/>
                          <a:sym typeface="Calibri"/>
                        </a:rPr>
                        <a:t>Kaggle</a:t>
                      </a:r>
                      <a:endParaRPr sz="100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EAF1F6"/>
                    </a:solidFill>
                  </a:tcPr>
                </a:tc>
                <a:tc>
                  <a:txBody>
                    <a:bodyPr/>
                    <a:lstStyle/>
                    <a:p>
                      <a:pPr indent="0" lvl="0" marL="0" marR="0" rtl="0" algn="l">
                        <a:lnSpc>
                          <a:spcPct val="100000"/>
                        </a:lnSpc>
                        <a:spcBef>
                          <a:spcPts val="0"/>
                        </a:spcBef>
                        <a:spcAft>
                          <a:spcPts val="0"/>
                        </a:spcAft>
                        <a:buClr>
                          <a:srgbClr val="1B1F3B"/>
                        </a:buClr>
                        <a:buSzPts val="1100"/>
                        <a:buFont typeface="Calibri"/>
                        <a:buNone/>
                      </a:pPr>
                      <a:r>
                        <a:rPr i="0" lang="en-US" sz="1000" u="none" cap="none" strike="noStrike">
                          <a:solidFill>
                            <a:srgbClr val="1B1F3B"/>
                          </a:solidFill>
                          <a:latin typeface="Calibri"/>
                          <a:ea typeface="Calibri"/>
                          <a:cs typeface="Calibri"/>
                          <a:sym typeface="Calibri"/>
                        </a:rPr>
                        <a:t>Public dataset</a:t>
                      </a:r>
                      <a:endParaRPr sz="100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EAF1F6"/>
                    </a:solidFill>
                  </a:tcPr>
                </a:tc>
                <a:tc>
                  <a:txBody>
                    <a:bodyPr/>
                    <a:lstStyle/>
                    <a:p>
                      <a:pPr indent="0" lvl="0" marL="0" marR="0" rtl="0" algn="l">
                        <a:lnSpc>
                          <a:spcPct val="100000"/>
                        </a:lnSpc>
                        <a:spcBef>
                          <a:spcPts val="0"/>
                        </a:spcBef>
                        <a:spcAft>
                          <a:spcPts val="0"/>
                        </a:spcAft>
                        <a:buClr>
                          <a:srgbClr val="1B1F3B"/>
                        </a:buClr>
                        <a:buSzPts val="1100"/>
                        <a:buFont typeface="Calibri"/>
                        <a:buNone/>
                      </a:pPr>
                      <a:r>
                        <a:rPr i="0" lang="en-US" sz="1000" u="none" cap="none" strike="noStrike">
                          <a:solidFill>
                            <a:srgbClr val="1B1F3B"/>
                          </a:solidFill>
                          <a:latin typeface="Calibri"/>
                          <a:ea typeface="Calibri"/>
                          <a:cs typeface="Calibri"/>
                          <a:sym typeface="Calibri"/>
                        </a:rPr>
                        <a:t>1,000 students: gender, parental education, lunch, test prep and math/reading/writing scores.</a:t>
                      </a:r>
                      <a:endParaRPr sz="100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EAF1F6"/>
                    </a:solidFill>
                  </a:tcPr>
                </a:tc>
              </a:tr>
              <a:tr h="740000">
                <a:tc>
                  <a:txBody>
                    <a:bodyPr/>
                    <a:lstStyle/>
                    <a:p>
                      <a:pPr indent="0" lvl="0" marL="0" marR="0" rtl="0" algn="ctr">
                        <a:lnSpc>
                          <a:spcPct val="100000"/>
                        </a:lnSpc>
                        <a:spcBef>
                          <a:spcPts val="0"/>
                        </a:spcBef>
                        <a:spcAft>
                          <a:spcPts val="0"/>
                        </a:spcAft>
                        <a:buClr>
                          <a:srgbClr val="1B1F3B"/>
                        </a:buClr>
                        <a:buSzPts val="1100"/>
                        <a:buFont typeface="Calibri"/>
                        <a:buNone/>
                      </a:pPr>
                      <a:r>
                        <a:rPr i="0" lang="en-US" sz="1000" u="none" cap="none" strike="noStrike">
                          <a:solidFill>
                            <a:srgbClr val="1B1F3B"/>
                          </a:solidFill>
                          <a:latin typeface="Calibri"/>
                          <a:ea typeface="Calibri"/>
                          <a:cs typeface="Calibri"/>
                          <a:sym typeface="Calibri"/>
                        </a:rPr>
                        <a:t>[3]</a:t>
                      </a:r>
                      <a:endParaRPr sz="100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B1F3B"/>
                        </a:buClr>
                        <a:buSzPts val="1100"/>
                        <a:buFont typeface="Calibri"/>
                        <a:buNone/>
                      </a:pPr>
                      <a:r>
                        <a:rPr i="0" lang="en-US" sz="1000" u="none" cap="none" strike="noStrike">
                          <a:solidFill>
                            <a:srgbClr val="1B1F3B"/>
                          </a:solidFill>
                          <a:latin typeface="Calibri"/>
                          <a:ea typeface="Calibri"/>
                          <a:cs typeface="Calibri"/>
                          <a:sym typeface="Calibri"/>
                        </a:rPr>
                        <a:t>Scikit-learn: Machine Learning in Python</a:t>
                      </a:r>
                      <a:endParaRPr sz="100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B1F3B"/>
                        </a:buClr>
                        <a:buSzPts val="1100"/>
                        <a:buFont typeface="Calibri"/>
                        <a:buNone/>
                      </a:pPr>
                      <a:r>
                        <a:rPr i="0" lang="en-US" sz="1000" u="none" cap="none" strike="noStrike">
                          <a:solidFill>
                            <a:srgbClr val="1B1F3B"/>
                          </a:solidFill>
                          <a:latin typeface="Calibri"/>
                          <a:ea typeface="Calibri"/>
                          <a:cs typeface="Calibri"/>
                          <a:sym typeface="Calibri"/>
                        </a:rPr>
                        <a:t>F. Pedregosa et al.</a:t>
                      </a:r>
                      <a:endParaRPr sz="100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B1F3B"/>
                        </a:buClr>
                        <a:buSzPts val="1100"/>
                        <a:buFont typeface="Calibri"/>
                        <a:buNone/>
                      </a:pPr>
                      <a:r>
                        <a:rPr i="0" lang="en-US" sz="1000" u="none" cap="none" strike="noStrike">
                          <a:solidFill>
                            <a:srgbClr val="1B1F3B"/>
                          </a:solidFill>
                          <a:latin typeface="Calibri"/>
                          <a:ea typeface="Calibri"/>
                          <a:cs typeface="Calibri"/>
                          <a:sym typeface="Calibri"/>
                        </a:rPr>
                        <a:t>JMLR, 2011</a:t>
                      </a:r>
                      <a:endParaRPr sz="100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B1F3B"/>
                        </a:buClr>
                        <a:buSzPts val="1100"/>
                        <a:buFont typeface="Calibri"/>
                        <a:buNone/>
                      </a:pPr>
                      <a:r>
                        <a:rPr i="0" lang="en-US" sz="1000" u="none" cap="none" strike="noStrike">
                          <a:solidFill>
                            <a:srgbClr val="1B1F3B"/>
                          </a:solidFill>
                          <a:latin typeface="Calibri"/>
                          <a:ea typeface="Calibri"/>
                          <a:cs typeface="Calibri"/>
                          <a:sym typeface="Calibri"/>
                        </a:rPr>
                        <a:t>Library giving ready Logistic Regression plus tools for data splitting and evaluation.</a:t>
                      </a:r>
                      <a:endParaRPr sz="100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FFFFFF"/>
                    </a:solidFill>
                  </a:tcPr>
                </a:tc>
              </a:tr>
              <a:tr h="740000">
                <a:tc>
                  <a:txBody>
                    <a:bodyPr/>
                    <a:lstStyle/>
                    <a:p>
                      <a:pPr indent="0" lvl="0" marL="0" marR="0" rtl="0" algn="ctr">
                        <a:lnSpc>
                          <a:spcPct val="100000"/>
                        </a:lnSpc>
                        <a:spcBef>
                          <a:spcPts val="0"/>
                        </a:spcBef>
                        <a:spcAft>
                          <a:spcPts val="0"/>
                        </a:spcAft>
                        <a:buClr>
                          <a:srgbClr val="1B1F3B"/>
                        </a:buClr>
                        <a:buSzPts val="1100"/>
                        <a:buFont typeface="Calibri"/>
                        <a:buNone/>
                      </a:pPr>
                      <a:r>
                        <a:rPr i="0" lang="en-US" sz="1000" u="none" cap="none" strike="noStrike">
                          <a:solidFill>
                            <a:srgbClr val="1B1F3B"/>
                          </a:solidFill>
                          <a:latin typeface="Calibri"/>
                          <a:ea typeface="Calibri"/>
                          <a:cs typeface="Calibri"/>
                          <a:sym typeface="Calibri"/>
                        </a:rPr>
                        <a:t>[4]</a:t>
                      </a:r>
                      <a:endParaRPr sz="100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EAF1F6"/>
                    </a:solidFill>
                  </a:tcPr>
                </a:tc>
                <a:tc>
                  <a:txBody>
                    <a:bodyPr/>
                    <a:lstStyle/>
                    <a:p>
                      <a:pPr indent="0" lvl="0" marL="0" marR="0" rtl="0" algn="l">
                        <a:lnSpc>
                          <a:spcPct val="100000"/>
                        </a:lnSpc>
                        <a:spcBef>
                          <a:spcPts val="0"/>
                        </a:spcBef>
                        <a:spcAft>
                          <a:spcPts val="0"/>
                        </a:spcAft>
                        <a:buClr>
                          <a:srgbClr val="1B1F3B"/>
                        </a:buClr>
                        <a:buSzPts val="1100"/>
                        <a:buFont typeface="Calibri"/>
                        <a:buNone/>
                      </a:pPr>
                      <a:r>
                        <a:rPr i="0" lang="en-US" sz="1000" u="none" cap="none" strike="noStrike">
                          <a:solidFill>
                            <a:srgbClr val="1B1F3B"/>
                          </a:solidFill>
                          <a:latin typeface="Calibri"/>
                          <a:ea typeface="Calibri"/>
                          <a:cs typeface="Calibri"/>
                          <a:sym typeface="Calibri"/>
                        </a:rPr>
                        <a:t>Hands-On Machine Learning with Scikit-Learn, Keras, and TensorFlow</a:t>
                      </a:r>
                      <a:endParaRPr sz="100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EAF1F6"/>
                    </a:solidFill>
                  </a:tcPr>
                </a:tc>
                <a:tc>
                  <a:txBody>
                    <a:bodyPr/>
                    <a:lstStyle/>
                    <a:p>
                      <a:pPr indent="0" lvl="0" marL="0" marR="0" rtl="0" algn="l">
                        <a:lnSpc>
                          <a:spcPct val="100000"/>
                        </a:lnSpc>
                        <a:spcBef>
                          <a:spcPts val="0"/>
                        </a:spcBef>
                        <a:spcAft>
                          <a:spcPts val="0"/>
                        </a:spcAft>
                        <a:buClr>
                          <a:srgbClr val="1B1F3B"/>
                        </a:buClr>
                        <a:buSzPts val="1100"/>
                        <a:buFont typeface="Calibri"/>
                        <a:buNone/>
                      </a:pPr>
                      <a:r>
                        <a:rPr i="0" lang="en-US" sz="1000" u="none" cap="none" strike="noStrike">
                          <a:solidFill>
                            <a:srgbClr val="1B1F3B"/>
                          </a:solidFill>
                          <a:latin typeface="Calibri"/>
                          <a:ea typeface="Calibri"/>
                          <a:cs typeface="Calibri"/>
                          <a:sym typeface="Calibri"/>
                        </a:rPr>
                        <a:t>A. Géron</a:t>
                      </a:r>
                      <a:endParaRPr sz="100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EAF1F6"/>
                    </a:solidFill>
                  </a:tcPr>
                </a:tc>
                <a:tc>
                  <a:txBody>
                    <a:bodyPr/>
                    <a:lstStyle/>
                    <a:p>
                      <a:pPr indent="0" lvl="0" marL="0" marR="0" rtl="0" algn="l">
                        <a:lnSpc>
                          <a:spcPct val="100000"/>
                        </a:lnSpc>
                        <a:spcBef>
                          <a:spcPts val="0"/>
                        </a:spcBef>
                        <a:spcAft>
                          <a:spcPts val="0"/>
                        </a:spcAft>
                        <a:buClr>
                          <a:srgbClr val="1B1F3B"/>
                        </a:buClr>
                        <a:buSzPts val="1100"/>
                        <a:buFont typeface="Calibri"/>
                        <a:buNone/>
                      </a:pPr>
                      <a:r>
                        <a:rPr i="0" lang="en-US" sz="1000" u="none" cap="none" strike="noStrike">
                          <a:solidFill>
                            <a:srgbClr val="1B1F3B"/>
                          </a:solidFill>
                          <a:latin typeface="Calibri"/>
                          <a:ea typeface="Calibri"/>
                          <a:cs typeface="Calibri"/>
                          <a:sym typeface="Calibri"/>
                        </a:rPr>
                        <a:t>O’Reilly Media, 2022</a:t>
                      </a:r>
                      <a:endParaRPr sz="100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EAF1F6"/>
                    </a:solidFill>
                  </a:tcPr>
                </a:tc>
                <a:tc>
                  <a:txBody>
                    <a:bodyPr/>
                    <a:lstStyle/>
                    <a:p>
                      <a:pPr indent="0" lvl="0" marL="0" marR="0" rtl="0" algn="l">
                        <a:lnSpc>
                          <a:spcPct val="100000"/>
                        </a:lnSpc>
                        <a:spcBef>
                          <a:spcPts val="0"/>
                        </a:spcBef>
                        <a:spcAft>
                          <a:spcPts val="0"/>
                        </a:spcAft>
                        <a:buClr>
                          <a:srgbClr val="1B1F3B"/>
                        </a:buClr>
                        <a:buSzPts val="1100"/>
                        <a:buFont typeface="Calibri"/>
                        <a:buNone/>
                      </a:pPr>
                      <a:r>
                        <a:rPr i="0" lang="en-US" sz="1000" u="none" cap="none" strike="noStrike">
                          <a:solidFill>
                            <a:srgbClr val="1B1F3B"/>
                          </a:solidFill>
                          <a:latin typeface="Calibri"/>
                          <a:ea typeface="Calibri"/>
                          <a:cs typeface="Calibri"/>
                          <a:sym typeface="Calibri"/>
                        </a:rPr>
                        <a:t>Practical model building and reading of accuracy, precision, recall and F1-score.</a:t>
                      </a:r>
                      <a:endParaRPr sz="100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EAF1F6"/>
                    </a:solidFill>
                  </a:tcPr>
                </a:tc>
              </a:tr>
              <a:tr h="740000">
                <a:tc>
                  <a:txBody>
                    <a:bodyPr/>
                    <a:lstStyle/>
                    <a:p>
                      <a:pPr indent="0" lvl="0" marL="0" marR="0" rtl="0" algn="ctr">
                        <a:lnSpc>
                          <a:spcPct val="100000"/>
                        </a:lnSpc>
                        <a:spcBef>
                          <a:spcPts val="0"/>
                        </a:spcBef>
                        <a:spcAft>
                          <a:spcPts val="0"/>
                        </a:spcAft>
                        <a:buClr>
                          <a:srgbClr val="1B1F3B"/>
                        </a:buClr>
                        <a:buSzPts val="1100"/>
                        <a:buFont typeface="Calibri"/>
                        <a:buNone/>
                      </a:pPr>
                      <a:r>
                        <a:rPr i="0" lang="en-US" sz="1000" u="none" cap="none" strike="noStrike">
                          <a:solidFill>
                            <a:srgbClr val="1B1F3B"/>
                          </a:solidFill>
                          <a:latin typeface="Calibri"/>
                          <a:ea typeface="Calibri"/>
                          <a:cs typeface="Calibri"/>
                          <a:sym typeface="Calibri"/>
                        </a:rPr>
                        <a:t>[5]</a:t>
                      </a:r>
                      <a:endParaRPr sz="100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B1F3B"/>
                        </a:buClr>
                        <a:buSzPts val="1100"/>
                        <a:buFont typeface="Calibri"/>
                        <a:buNone/>
                      </a:pPr>
                      <a:r>
                        <a:rPr i="0" lang="en-US" sz="1000" u="none" cap="none" strike="noStrike">
                          <a:solidFill>
                            <a:srgbClr val="1B1F3B"/>
                          </a:solidFill>
                          <a:latin typeface="Calibri"/>
                          <a:ea typeface="Calibri"/>
                          <a:cs typeface="Calibri"/>
                          <a:sym typeface="Calibri"/>
                        </a:rPr>
                        <a:t>Data Mining: Concepts and Techniques</a:t>
                      </a:r>
                      <a:endParaRPr sz="100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B1F3B"/>
                        </a:buClr>
                        <a:buSzPts val="1100"/>
                        <a:buFont typeface="Calibri"/>
                        <a:buNone/>
                      </a:pPr>
                      <a:r>
                        <a:rPr i="0" lang="en-US" sz="1000" u="none" cap="none" strike="noStrike">
                          <a:solidFill>
                            <a:srgbClr val="1B1F3B"/>
                          </a:solidFill>
                          <a:latin typeface="Calibri"/>
                          <a:ea typeface="Calibri"/>
                          <a:cs typeface="Calibri"/>
                          <a:sym typeface="Calibri"/>
                        </a:rPr>
                        <a:t>J. Han, M. Kamber, J. Pei</a:t>
                      </a:r>
                      <a:endParaRPr sz="100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B1F3B"/>
                        </a:buClr>
                        <a:buSzPts val="1100"/>
                        <a:buFont typeface="Calibri"/>
                        <a:buNone/>
                      </a:pPr>
                      <a:r>
                        <a:rPr i="0" lang="en-US" sz="1000" u="none" cap="none" strike="noStrike">
                          <a:solidFill>
                            <a:srgbClr val="1B1F3B"/>
                          </a:solidFill>
                          <a:latin typeface="Calibri"/>
                          <a:ea typeface="Calibri"/>
                          <a:cs typeface="Calibri"/>
                          <a:sym typeface="Calibri"/>
                        </a:rPr>
                        <a:t>Morgan Kaufmann, 2011</a:t>
                      </a:r>
                      <a:endParaRPr sz="100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B1F3B"/>
                        </a:buClr>
                        <a:buSzPts val="1100"/>
                        <a:buFont typeface="Calibri"/>
                        <a:buNone/>
                      </a:pPr>
                      <a:r>
                        <a:rPr i="0" lang="en-US" sz="1000" u="none" cap="none" strike="noStrike">
                          <a:solidFill>
                            <a:srgbClr val="1B1F3B"/>
                          </a:solidFill>
                          <a:latin typeface="Calibri"/>
                          <a:ea typeface="Calibri"/>
                          <a:cs typeface="Calibri"/>
                          <a:sym typeface="Calibri"/>
                        </a:rPr>
                        <a:t>Foundations of data cleaning, transformation and classification used in preprocessing.</a:t>
                      </a:r>
                      <a:endParaRPr sz="100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FFFFFF"/>
                    </a:solidFill>
                  </a:tcPr>
                </a:tc>
              </a:tr>
            </a:tbl>
          </a:graphicData>
        </a:graphic>
      </p:graphicFrame>
      <p:sp>
        <p:nvSpPr>
          <p:cNvPr id="130" name="Google Shape;130;p8"/>
          <p:cNvSpPr/>
          <p:nvPr/>
        </p:nvSpPr>
        <p:spPr>
          <a:xfrm>
            <a:off x="502920" y="6519672"/>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B.TECH THIRD YEAR  ·  MINI PROJECT PRESENTATION</a:t>
            </a:r>
            <a:endParaRPr b="0" i="0" sz="900" u="none" cap="none" strike="noStrike">
              <a:solidFill>
                <a:schemeClr val="dk1"/>
              </a:solidFill>
              <a:latin typeface="Calibri"/>
              <a:ea typeface="Calibri"/>
              <a:cs typeface="Calibri"/>
              <a:sym typeface="Calibri"/>
            </a:endParaRPr>
          </a:p>
        </p:txBody>
      </p:sp>
      <p:sp>
        <p:nvSpPr>
          <p:cNvPr id="131" name="Google Shape;131;p8"/>
          <p:cNvSpPr/>
          <p:nvPr/>
        </p:nvSpPr>
        <p:spPr>
          <a:xfrm>
            <a:off x="11228832" y="6519672"/>
            <a:ext cx="45720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sp>
        <p:nvSpPr>
          <p:cNvPr id="300" name="Survey Observation"/>
          <p:cNvSpPr txBox="1"/>
          <p:nvPr/>
        </p:nvSpPr>
        <p:spPr>
          <a:xfrm>
            <a:off x="1234440" y="6050000"/>
            <a:ext cx="9692625" cy="380000"/>
          </a:xfrm>
          <a:prstGeom prst="rect">
            <a:avLst/>
          </a:prstGeom>
          <a:noFill/>
        </p:spPr>
        <p:txBody>
          <a:bodyPr anchor="ctr" wrap="square" lIns="0" rIns="0" tIns="0" bIns="0">
            <a:noAutofit/>
          </a:bodyPr>
          <a:lstStyle/>
          <a:p>
            <a:pPr indent="0" lvl="0" marL="0" marR="0" rtl="0" algn="l">
              <a:lnSpc>
                <a:spcPct val="100000"/>
              </a:lnSpc>
              <a:spcBef>
                <a:spcPts val="0"/>
              </a:spcBef>
              <a:spcAft>
                <a:spcPts val="0"/>
              </a:spcAft>
              <a:buNone/>
            </a:pPr>
            <a:r>
              <a:rPr lang="en-US" sz="1100" b="1" i="0" u="none" cap="none" strike="noStrike">
                <a:solidFill>
                  <a:srgbClr val="1C7293"/>
                </a:solidFill>
                <a:latin typeface="Calibri"/>
                <a:ea typeface="Calibri"/>
                <a:cs typeface="Calibri"/>
                <a:sym typeface="Calibri"/>
              </a:rPr>
              <a:t xml:space="preserve">Gap identified: </a:t>
            </a:r>
            <a:r>
              <a:rPr lang="en-US" sz="1100" b="0" i="1" u="none" cap="none" strike="noStrike">
                <a:solidFill>
                  <a:srgbClr val="1B1F3B"/>
                </a:solidFill>
                <a:latin typeface="Calibri"/>
                <a:ea typeface="Calibri"/>
                <a:cs typeface="Calibri"/>
                <a:sym typeface="Calibri"/>
              </a:rPr>
              <a:t xml:space="preserve">existing work gives only a Pass/Fail label – little on pass percentage, weakest subject or study recommendation.</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136" name="Shape 136"/>
        <p:cNvGrpSpPr/>
        <p:nvPr/>
      </p:nvGrpSpPr>
      <p:grpSpPr>
        <a:xfrm>
          <a:off x="0" y="0"/>
          <a:ext cx="0" cy="0"/>
          <a:chOff x="0" y="0"/>
          <a:chExt cx="0" cy="0"/>
        </a:xfrm>
      </p:grpSpPr>
      <p:sp>
        <p:nvSpPr>
          <p:cNvPr id="137" name="Google Shape;137;p9"/>
          <p:cNvSpPr/>
          <p:nvPr/>
        </p:nvSpPr>
        <p:spPr>
          <a:xfrm>
            <a:off x="10424160" y="-1463040"/>
            <a:ext cx="3108960" cy="3108960"/>
          </a:xfrm>
          <a:prstGeom prst="ellipse">
            <a:avLst/>
          </a:prstGeom>
          <a:solidFill>
            <a:srgbClr val="1C7293">
              <a:alpha val="784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9"/>
          <p:cNvSpPr/>
          <p:nvPr/>
        </p:nvSpPr>
        <p:spPr>
          <a:xfrm>
            <a:off x="-1097280" y="5669280"/>
            <a:ext cx="2194560" cy="2194560"/>
          </a:xfrm>
          <a:prstGeom prst="ellipse">
            <a:avLst/>
          </a:prstGeom>
          <a:solidFill>
            <a:srgbClr val="21295C">
              <a:alpha val="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9"/>
          <p:cNvSpPr/>
          <p:nvPr/>
        </p:nvSpPr>
        <p:spPr>
          <a:xfrm>
            <a:off x="502920" y="457200"/>
            <a:ext cx="530352" cy="530352"/>
          </a:xfrm>
          <a:prstGeom prst="roundRect">
            <a:avLst>
              <a:gd fmla="val 20690" name="adj"/>
            </a:avLst>
          </a:prstGeom>
          <a:solidFill>
            <a:srgbClr val="2129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9"/>
          <p:cNvSpPr/>
          <p:nvPr/>
        </p:nvSpPr>
        <p:spPr>
          <a:xfrm>
            <a:off x="502920" y="457200"/>
            <a:ext cx="530352" cy="5303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06</a:t>
            </a:r>
            <a:endParaRPr b="0" i="0" sz="1600" u="none" cap="none" strike="noStrike">
              <a:solidFill>
                <a:schemeClr val="dk1"/>
              </a:solidFill>
              <a:latin typeface="Calibri"/>
              <a:ea typeface="Calibri"/>
              <a:cs typeface="Calibri"/>
              <a:sym typeface="Calibri"/>
            </a:endParaRPr>
          </a:p>
        </p:txBody>
      </p:sp>
      <p:sp>
        <p:nvSpPr>
          <p:cNvPr id="141" name="Google Shape;141;p9"/>
          <p:cNvSpPr/>
          <p:nvPr/>
        </p:nvSpPr>
        <p:spPr>
          <a:xfrm>
            <a:off x="1234440" y="429768"/>
            <a:ext cx="8686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C7293"/>
              </a:buClr>
              <a:buSzPts val="1100"/>
              <a:buFont typeface="Calibri"/>
              <a:buNone/>
            </a:pPr>
            <a:r>
              <a:rPr b="1" i="0" lang="en-US" sz="1100" u="none" cap="none" strike="noStrike">
                <a:solidFill>
                  <a:srgbClr val="1C7293"/>
                </a:solidFill>
                <a:latin typeface="Calibri"/>
                <a:ea typeface="Calibri"/>
                <a:cs typeface="Calibri"/>
                <a:sym typeface="Calibri"/>
              </a:rPr>
              <a:t>SECTION 06</a:t>
            </a:r>
            <a:endParaRPr b="0" i="0" sz="1100" u="none" cap="none" strike="noStrike">
              <a:solidFill>
                <a:schemeClr val="dk1"/>
              </a:solidFill>
              <a:latin typeface="Calibri"/>
              <a:ea typeface="Calibri"/>
              <a:cs typeface="Calibri"/>
              <a:sym typeface="Calibri"/>
            </a:endParaRPr>
          </a:p>
        </p:txBody>
      </p:sp>
      <p:sp>
        <p:nvSpPr>
          <p:cNvPr id="142" name="Google Shape;142;p9"/>
          <p:cNvSpPr/>
          <p:nvPr/>
        </p:nvSpPr>
        <p:spPr>
          <a:xfrm>
            <a:off x="1234440" y="676656"/>
            <a:ext cx="96926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System Workflow / Architecture</a:t>
            </a:r>
            <a:endParaRPr b="0" i="0" sz="3000" u="none" cap="none" strike="noStrike">
              <a:solidFill>
                <a:schemeClr val="dk1"/>
              </a:solidFill>
              <a:latin typeface="Calibri"/>
              <a:ea typeface="Calibri"/>
              <a:cs typeface="Calibri"/>
              <a:sym typeface="Calibri"/>
            </a:endParaRPr>
          </a:p>
        </p:txBody>
      </p:sp>
      <p:sp>
        <p:nvSpPr>
          <p:cNvPr id="143" name="Google Shape;143;p9"/>
          <p:cNvSpPr/>
          <p:nvPr/>
        </p:nvSpPr>
        <p:spPr>
          <a:xfrm>
            <a:off x="1234450" y="1600200"/>
            <a:ext cx="9692700" cy="4585200"/>
          </a:xfrm>
          <a:prstGeom prst="roundRect">
            <a:avLst>
              <a:gd fmla="val 2198" name="adj"/>
            </a:avLst>
          </a:prstGeom>
          <a:solidFill>
            <a:srgbClr val="FFFFFF"/>
          </a:solidFill>
          <a:ln cap="flat" cmpd="sng" w="15875">
            <a:solidFill>
              <a:srgbClr val="DEE4EF"/>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9"/>
          <p:cNvSpPr/>
          <p:nvPr/>
        </p:nvSpPr>
        <p:spPr>
          <a:xfrm>
            <a:off x="1534450" y="5680000"/>
            <a:ext cx="9092700" cy="380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1100" b="0" i="1" u="none" cap="none" strike="noStrike">
                <a:solidFill>
                  <a:srgbClr val="6B7593"/>
                </a:solidFill>
                <a:latin typeface="Calibri"/>
                <a:ea typeface="Calibri"/>
                <a:cs typeface="Calibri"/>
                <a:sym typeface="Calibri"/>
              </a:rPr>
              <a:t xml:space="preserve">Pass % = predict_proba output   |   Weakest subject = lowest of Math / Reading / Writing score</a:t>
            </a:r>
          </a:p>
        </p:txBody>
      </p:sp>
      <p:sp>
        <p:nvSpPr>
          <p:cNvPr id="145" name="Google Shape;145;p9"/>
          <p:cNvSpPr/>
          <p:nvPr/>
        </p:nvSpPr>
        <p:spPr>
          <a:xfrm>
            <a:off x="502920" y="6519672"/>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B.TECH THIRD YEAR  ·  MINI PROJECT PRESENTATION</a:t>
            </a:r>
            <a:endParaRPr b="0" i="0" sz="900" u="none" cap="none" strike="noStrike">
              <a:solidFill>
                <a:schemeClr val="dk1"/>
              </a:solidFill>
              <a:latin typeface="Calibri"/>
              <a:ea typeface="Calibri"/>
              <a:cs typeface="Calibri"/>
              <a:sym typeface="Calibri"/>
            </a:endParaRPr>
          </a:p>
        </p:txBody>
      </p:sp>
      <p:sp>
        <p:nvSpPr>
          <p:cNvPr id="146" name="Google Shape;146;p9"/>
          <p:cNvSpPr/>
          <p:nvPr/>
        </p:nvSpPr>
        <p:spPr>
          <a:xfrm>
            <a:off x="11228832" y="6519672"/>
            <a:ext cx="45720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sp>
        <p:nvSpPr>
          <p:cNvPr id="400" name="Step 1"/>
          <p:cNvSpPr/>
          <p:nvPr/>
        </p:nvSpPr>
        <p:spPr>
          <a:xfrm>
            <a:off x="1534450" y="1830000"/>
            <a:ext cx="1900000" cy="1330000"/>
          </a:xfrm>
          <a:prstGeom prst="roundRect">
            <a:avLst>
              <a:gd name="adj" fmla="val 8000"/>
            </a:avLst>
          </a:prstGeom>
          <a:solidFill>
            <a:srgbClr val="21295C"/>
          </a:solidFill>
          <a:ln>
            <a:noFill/>
          </a:ln>
        </p:spPr>
        <p:txBody>
          <a:bodyPr anchor="ctr" wrap="square" lIns="91440" rIns="91440" tIns="45720" bIns="45720">
            <a:noAutofit/>
          </a:bodyPr>
          <a:lstStyle/>
          <a:p>
            <a:pPr indent="0" lvl="0" marL="0" marR="0" rtl="0" algn="ctr">
              <a:lnSpc>
                <a:spcPct val="100000"/>
              </a:lnSpc>
              <a:spcBef>
                <a:spcPts val="0"/>
              </a:spcBef>
              <a:spcAft>
                <a:spcPts val="200"/>
              </a:spcAft>
              <a:buNone/>
            </a:pPr>
            <a:r>
              <a:rPr lang="en-US" sz="900" b="1" i="0" u="none" cap="none" strike="noStrike">
                <a:solidFill>
                  <a:srgbClr val="CFE3EE"/>
                </a:solidFill>
                <a:latin typeface="Calibri"/>
                <a:ea typeface="Calibri"/>
                <a:cs typeface="Calibri"/>
                <a:sym typeface="Calibri"/>
              </a:rPr>
              <a:t xml:space="preserve">STEP 1</a:t>
            </a:r>
          </a:p>
          <a:p>
            <a:pPr indent="0" lvl="0" marL="0" marR="0" rtl="0" algn="ctr">
              <a:lnSpc>
                <a:spcPct val="100000"/>
              </a:lnSpc>
              <a:spcBef>
                <a:spcPts val="0"/>
              </a:spcBef>
              <a:spcAft>
                <a:spcPts val="300"/>
              </a:spcAft>
              <a:buNone/>
            </a:pPr>
            <a:r>
              <a:rPr lang="en-US" sz="1300" b="1" i="0" u="none" cap="none" strike="noStrike">
                <a:solidFill>
                  <a:srgbClr val="FFFFFF"/>
                </a:solidFill>
                <a:latin typeface="Calibri"/>
                <a:ea typeface="Calibri"/>
                <a:cs typeface="Calibri"/>
                <a:sym typeface="Calibri"/>
              </a:rPr>
              <a:t xml:space="preserve">Dataset</a:t>
            </a:r>
          </a:p>
          <a:p>
            <a:pPr indent="0" lvl="0" marL="0" marR="0" rtl="0" algn="ctr">
              <a:lnSpc>
                <a:spcPct val="105000"/>
              </a:lnSpc>
              <a:spcBef>
                <a:spcPts val="0"/>
              </a:spcBef>
              <a:spcAft>
                <a:spcPts val="0"/>
              </a:spcAft>
              <a:buNone/>
            </a:pPr>
            <a:r>
              <a:rPr lang="en-US" sz="1000" b="0" i="0" u="none" cap="none" strike="noStrike">
                <a:solidFill>
                  <a:srgbClr val="FFFFFF"/>
                </a:solidFill>
                <a:latin typeface="Calibri"/>
                <a:ea typeface="Calibri"/>
                <a:cs typeface="Calibri"/>
                <a:sym typeface="Calibri"/>
              </a:rPr>
              <a:t xml:space="preserve">Kaggle Students Performance in Exams: 1,000 students, 8 columns</a:t>
            </a:r>
          </a:p>
        </p:txBody>
      </p:sp>
      <p:sp>
        <p:nvSpPr>
          <p:cNvPr id="401" name="Step 2"/>
          <p:cNvSpPr/>
          <p:nvPr/>
        </p:nvSpPr>
        <p:spPr>
          <a:xfrm>
            <a:off x="3932016" y="1830000"/>
            <a:ext cx="1900000" cy="1330000"/>
          </a:xfrm>
          <a:prstGeom prst="roundRect">
            <a:avLst>
              <a:gd name="adj" fmla="val 8000"/>
            </a:avLst>
          </a:prstGeom>
          <a:solidFill>
            <a:srgbClr val="1C7293"/>
          </a:solidFill>
          <a:ln>
            <a:noFill/>
          </a:ln>
        </p:spPr>
        <p:txBody>
          <a:bodyPr anchor="ctr" wrap="square" lIns="91440" rIns="91440" tIns="45720" bIns="45720">
            <a:noAutofit/>
          </a:bodyPr>
          <a:lstStyle/>
          <a:p>
            <a:pPr indent="0" lvl="0" marL="0" marR="0" rtl="0" algn="ctr">
              <a:lnSpc>
                <a:spcPct val="100000"/>
              </a:lnSpc>
              <a:spcBef>
                <a:spcPts val="0"/>
              </a:spcBef>
              <a:spcAft>
                <a:spcPts val="200"/>
              </a:spcAft>
              <a:buNone/>
            </a:pPr>
            <a:r>
              <a:rPr lang="en-US" sz="900" b="1" i="0" u="none" cap="none" strike="noStrike">
                <a:solidFill>
                  <a:srgbClr val="CFE3EE"/>
                </a:solidFill>
                <a:latin typeface="Calibri"/>
                <a:ea typeface="Calibri"/>
                <a:cs typeface="Calibri"/>
                <a:sym typeface="Calibri"/>
              </a:rPr>
              <a:t xml:space="preserve">STEP 2</a:t>
            </a:r>
          </a:p>
          <a:p>
            <a:pPr indent="0" lvl="0" marL="0" marR="0" rtl="0" algn="ctr">
              <a:lnSpc>
                <a:spcPct val="100000"/>
              </a:lnSpc>
              <a:spcBef>
                <a:spcPts val="0"/>
              </a:spcBef>
              <a:spcAft>
                <a:spcPts val="300"/>
              </a:spcAft>
              <a:buNone/>
            </a:pPr>
            <a:r>
              <a:rPr lang="en-US" sz="1300" b="1" i="0" u="none" cap="none" strike="noStrike">
                <a:solidFill>
                  <a:srgbClr val="FFFFFF"/>
                </a:solidFill>
                <a:latin typeface="Calibri"/>
                <a:ea typeface="Calibri"/>
                <a:cs typeface="Calibri"/>
                <a:sym typeface="Calibri"/>
              </a:rPr>
              <a:t xml:space="preserve">Preprocessing</a:t>
            </a:r>
          </a:p>
          <a:p>
            <a:pPr indent="0" lvl="0" marL="0" marR="0" rtl="0" algn="ctr">
              <a:lnSpc>
                <a:spcPct val="105000"/>
              </a:lnSpc>
              <a:spcBef>
                <a:spcPts val="0"/>
              </a:spcBef>
              <a:spcAft>
                <a:spcPts val="0"/>
              </a:spcAft>
              <a:buNone/>
            </a:pPr>
            <a:r>
              <a:rPr lang="en-US" sz="1000" b="0" i="0" u="none" cap="none" strike="noStrike">
                <a:solidFill>
                  <a:srgbClr val="FFFFFF"/>
                </a:solidFill>
                <a:latin typeface="Calibri"/>
                <a:ea typeface="Calibri"/>
                <a:cs typeface="Calibri"/>
                <a:sym typeface="Calibri"/>
              </a:rPr>
              <a:t xml:space="preserve">Encode categorical values into numeric form</a:t>
            </a:r>
          </a:p>
        </p:txBody>
      </p:sp>
      <p:sp>
        <p:nvSpPr>
          <p:cNvPr id="402" name="Step 3"/>
          <p:cNvSpPr/>
          <p:nvPr/>
        </p:nvSpPr>
        <p:spPr>
          <a:xfrm>
            <a:off x="6329582" y="1830000"/>
            <a:ext cx="1900000" cy="1330000"/>
          </a:xfrm>
          <a:prstGeom prst="roundRect">
            <a:avLst>
              <a:gd name="adj" fmla="val 8000"/>
            </a:avLst>
          </a:prstGeom>
          <a:solidFill>
            <a:srgbClr val="21295C"/>
          </a:solidFill>
          <a:ln>
            <a:noFill/>
          </a:ln>
        </p:spPr>
        <p:txBody>
          <a:bodyPr anchor="ctr" wrap="square" lIns="91440" rIns="91440" tIns="45720" bIns="45720">
            <a:noAutofit/>
          </a:bodyPr>
          <a:lstStyle/>
          <a:p>
            <a:pPr indent="0" lvl="0" marL="0" marR="0" rtl="0" algn="ctr">
              <a:lnSpc>
                <a:spcPct val="100000"/>
              </a:lnSpc>
              <a:spcBef>
                <a:spcPts val="0"/>
              </a:spcBef>
              <a:spcAft>
                <a:spcPts val="200"/>
              </a:spcAft>
              <a:buNone/>
            </a:pPr>
            <a:r>
              <a:rPr lang="en-US" sz="900" b="1" i="0" u="none" cap="none" strike="noStrike">
                <a:solidFill>
                  <a:srgbClr val="CFE3EE"/>
                </a:solidFill>
                <a:latin typeface="Calibri"/>
                <a:ea typeface="Calibri"/>
                <a:cs typeface="Calibri"/>
                <a:sym typeface="Calibri"/>
              </a:rPr>
              <a:t xml:space="preserve">STEP 3</a:t>
            </a:r>
          </a:p>
          <a:p>
            <a:pPr indent="0" lvl="0" marL="0" marR="0" rtl="0" algn="ctr">
              <a:lnSpc>
                <a:spcPct val="100000"/>
              </a:lnSpc>
              <a:spcBef>
                <a:spcPts val="0"/>
              </a:spcBef>
              <a:spcAft>
                <a:spcPts val="300"/>
              </a:spcAft>
              <a:buNone/>
            </a:pPr>
            <a:r>
              <a:rPr lang="en-US" sz="1300" b="1" i="0" u="none" cap="none" strike="noStrike">
                <a:solidFill>
                  <a:srgbClr val="FFFFFF"/>
                </a:solidFill>
                <a:latin typeface="Calibri"/>
                <a:ea typeface="Calibri"/>
                <a:cs typeface="Calibri"/>
                <a:sym typeface="Calibri"/>
              </a:rPr>
              <a:t xml:space="preserve">Target Creation</a:t>
            </a:r>
          </a:p>
          <a:p>
            <a:pPr indent="0" lvl="0" marL="0" marR="0" rtl="0" algn="ctr">
              <a:lnSpc>
                <a:spcPct val="105000"/>
              </a:lnSpc>
              <a:spcBef>
                <a:spcPts val="0"/>
              </a:spcBef>
              <a:spcAft>
                <a:spcPts val="0"/>
              </a:spcAft>
              <a:buNone/>
            </a:pPr>
            <a:r>
              <a:rPr lang="en-US" sz="1000" b="0" i="0" u="none" cap="none" strike="noStrike">
                <a:solidFill>
                  <a:srgbClr val="FFFFFF"/>
                </a:solidFill>
                <a:latin typeface="Calibri"/>
                <a:ea typeface="Calibri"/>
                <a:cs typeface="Calibri"/>
                <a:sym typeface="Calibri"/>
              </a:rPr>
              <a:t xml:space="preserve">Average of 3 scores ≥ 40 → Pass, else Fail</a:t>
            </a:r>
          </a:p>
        </p:txBody>
      </p:sp>
      <p:sp>
        <p:nvSpPr>
          <p:cNvPr id="403" name="Step 4"/>
          <p:cNvSpPr/>
          <p:nvPr/>
        </p:nvSpPr>
        <p:spPr>
          <a:xfrm>
            <a:off x="8727148" y="1830000"/>
            <a:ext cx="1900000" cy="1330000"/>
          </a:xfrm>
          <a:prstGeom prst="roundRect">
            <a:avLst>
              <a:gd name="adj" fmla="val 8000"/>
            </a:avLst>
          </a:prstGeom>
          <a:solidFill>
            <a:srgbClr val="1C7293"/>
          </a:solidFill>
          <a:ln>
            <a:noFill/>
          </a:ln>
        </p:spPr>
        <p:txBody>
          <a:bodyPr anchor="ctr" wrap="square" lIns="91440" rIns="91440" tIns="45720" bIns="45720">
            <a:noAutofit/>
          </a:bodyPr>
          <a:lstStyle/>
          <a:p>
            <a:pPr indent="0" lvl="0" marL="0" marR="0" rtl="0" algn="ctr">
              <a:lnSpc>
                <a:spcPct val="100000"/>
              </a:lnSpc>
              <a:spcBef>
                <a:spcPts val="0"/>
              </a:spcBef>
              <a:spcAft>
                <a:spcPts val="200"/>
              </a:spcAft>
              <a:buNone/>
            </a:pPr>
            <a:r>
              <a:rPr lang="en-US" sz="900" b="1" i="0" u="none" cap="none" strike="noStrike">
                <a:solidFill>
                  <a:srgbClr val="CFE3EE"/>
                </a:solidFill>
                <a:latin typeface="Calibri"/>
                <a:ea typeface="Calibri"/>
                <a:cs typeface="Calibri"/>
                <a:sym typeface="Calibri"/>
              </a:rPr>
              <a:t xml:space="preserve">STEP 4</a:t>
            </a:r>
          </a:p>
          <a:p>
            <a:pPr indent="0" lvl="0" marL="0" marR="0" rtl="0" algn="ctr">
              <a:lnSpc>
                <a:spcPct val="100000"/>
              </a:lnSpc>
              <a:spcBef>
                <a:spcPts val="0"/>
              </a:spcBef>
              <a:spcAft>
                <a:spcPts val="300"/>
              </a:spcAft>
              <a:buNone/>
            </a:pPr>
            <a:r>
              <a:rPr lang="en-US" sz="1300" b="1" i="0" u="none" cap="none" strike="noStrike">
                <a:solidFill>
                  <a:srgbClr val="FFFFFF"/>
                </a:solidFill>
                <a:latin typeface="Calibri"/>
                <a:ea typeface="Calibri"/>
                <a:cs typeface="Calibri"/>
                <a:sym typeface="Calibri"/>
              </a:rPr>
              <a:t xml:space="preserve">Train-Test Split</a:t>
            </a:r>
          </a:p>
          <a:p>
            <a:pPr indent="0" lvl="0" marL="0" marR="0" rtl="0" algn="ctr">
              <a:lnSpc>
                <a:spcPct val="105000"/>
              </a:lnSpc>
              <a:spcBef>
                <a:spcPts val="0"/>
              </a:spcBef>
              <a:spcAft>
                <a:spcPts val="0"/>
              </a:spcAft>
              <a:buNone/>
            </a:pPr>
            <a:r>
              <a:rPr lang="en-US" sz="1000" b="0" i="0" u="none" cap="none" strike="noStrike">
                <a:solidFill>
                  <a:srgbClr val="FFFFFF"/>
                </a:solidFill>
                <a:latin typeface="Calibri"/>
                <a:ea typeface="Calibri"/>
                <a:cs typeface="Calibri"/>
                <a:sym typeface="Calibri"/>
              </a:rPr>
              <a:t xml:space="preserve">80% train (800) / 20% test (200)</a:t>
            </a:r>
          </a:p>
        </p:txBody>
      </p:sp>
      <p:sp>
        <p:nvSpPr>
          <p:cNvPr id="404" name="Step 5"/>
          <p:cNvSpPr/>
          <p:nvPr/>
        </p:nvSpPr>
        <p:spPr>
          <a:xfrm>
            <a:off x="8727148" y="3800000"/>
            <a:ext cx="1900000" cy="1330000"/>
          </a:xfrm>
          <a:prstGeom prst="roundRect">
            <a:avLst>
              <a:gd name="adj" fmla="val 8000"/>
            </a:avLst>
          </a:prstGeom>
          <a:solidFill>
            <a:srgbClr val="21295C"/>
          </a:solidFill>
          <a:ln>
            <a:noFill/>
          </a:ln>
        </p:spPr>
        <p:txBody>
          <a:bodyPr anchor="ctr" wrap="square" lIns="91440" rIns="91440" tIns="45720" bIns="45720">
            <a:noAutofit/>
          </a:bodyPr>
          <a:lstStyle/>
          <a:p>
            <a:pPr indent="0" lvl="0" marL="0" marR="0" rtl="0" algn="ctr">
              <a:lnSpc>
                <a:spcPct val="100000"/>
              </a:lnSpc>
              <a:spcBef>
                <a:spcPts val="0"/>
              </a:spcBef>
              <a:spcAft>
                <a:spcPts val="200"/>
              </a:spcAft>
              <a:buNone/>
            </a:pPr>
            <a:r>
              <a:rPr lang="en-US" sz="900" b="1" i="0" u="none" cap="none" strike="noStrike">
                <a:solidFill>
                  <a:srgbClr val="CFE3EE"/>
                </a:solidFill>
                <a:latin typeface="Calibri"/>
                <a:ea typeface="Calibri"/>
                <a:cs typeface="Calibri"/>
                <a:sym typeface="Calibri"/>
              </a:rPr>
              <a:t xml:space="preserve">STEP 5</a:t>
            </a:r>
          </a:p>
          <a:p>
            <a:pPr indent="0" lvl="0" marL="0" marR="0" rtl="0" algn="ctr">
              <a:lnSpc>
                <a:spcPct val="100000"/>
              </a:lnSpc>
              <a:spcBef>
                <a:spcPts val="0"/>
              </a:spcBef>
              <a:spcAft>
                <a:spcPts val="300"/>
              </a:spcAft>
              <a:buNone/>
            </a:pPr>
            <a:r>
              <a:rPr lang="en-US" sz="1300" b="1" i="0" u="none" cap="none" strike="noStrike">
                <a:solidFill>
                  <a:srgbClr val="FFFFFF"/>
                </a:solidFill>
                <a:latin typeface="Calibri"/>
                <a:ea typeface="Calibri"/>
                <a:cs typeface="Calibri"/>
                <a:sym typeface="Calibri"/>
              </a:rPr>
              <a:t xml:space="preserve">Model Training</a:t>
            </a:r>
          </a:p>
          <a:p>
            <a:pPr indent="0" lvl="0" marL="0" marR="0" rtl="0" algn="ctr">
              <a:lnSpc>
                <a:spcPct val="105000"/>
              </a:lnSpc>
              <a:spcBef>
                <a:spcPts val="0"/>
              </a:spcBef>
              <a:spcAft>
                <a:spcPts val="0"/>
              </a:spcAft>
              <a:buNone/>
            </a:pPr>
            <a:r>
              <a:rPr lang="en-US" sz="1000" b="0" i="0" u="none" cap="none" strike="noStrike">
                <a:solidFill>
                  <a:srgbClr val="FFFFFF"/>
                </a:solidFill>
                <a:latin typeface="Calibri"/>
                <a:ea typeface="Calibri"/>
                <a:cs typeface="Calibri"/>
                <a:sym typeface="Calibri"/>
              </a:rPr>
              <a:t xml:space="preserve">Logistic Regression (max_iter=1000, balanced)</a:t>
            </a:r>
          </a:p>
        </p:txBody>
      </p:sp>
      <p:sp>
        <p:nvSpPr>
          <p:cNvPr id="405" name="Step 6"/>
          <p:cNvSpPr/>
          <p:nvPr/>
        </p:nvSpPr>
        <p:spPr>
          <a:xfrm>
            <a:off x="6329582" y="3800000"/>
            <a:ext cx="1900000" cy="1330000"/>
          </a:xfrm>
          <a:prstGeom prst="roundRect">
            <a:avLst>
              <a:gd name="adj" fmla="val 8000"/>
            </a:avLst>
          </a:prstGeom>
          <a:solidFill>
            <a:srgbClr val="1C7293"/>
          </a:solidFill>
          <a:ln>
            <a:noFill/>
          </a:ln>
        </p:spPr>
        <p:txBody>
          <a:bodyPr anchor="ctr" wrap="square" lIns="91440" rIns="91440" tIns="45720" bIns="45720">
            <a:noAutofit/>
          </a:bodyPr>
          <a:lstStyle/>
          <a:p>
            <a:pPr indent="0" lvl="0" marL="0" marR="0" rtl="0" algn="ctr">
              <a:lnSpc>
                <a:spcPct val="100000"/>
              </a:lnSpc>
              <a:spcBef>
                <a:spcPts val="0"/>
              </a:spcBef>
              <a:spcAft>
                <a:spcPts val="200"/>
              </a:spcAft>
              <a:buNone/>
            </a:pPr>
            <a:r>
              <a:rPr lang="en-US" sz="900" b="1" i="0" u="none" cap="none" strike="noStrike">
                <a:solidFill>
                  <a:srgbClr val="CFE3EE"/>
                </a:solidFill>
                <a:latin typeface="Calibri"/>
                <a:ea typeface="Calibri"/>
                <a:cs typeface="Calibri"/>
                <a:sym typeface="Calibri"/>
              </a:rPr>
              <a:t xml:space="preserve">STEP 6</a:t>
            </a:r>
          </a:p>
          <a:p>
            <a:pPr indent="0" lvl="0" marL="0" marR="0" rtl="0" algn="ctr">
              <a:lnSpc>
                <a:spcPct val="100000"/>
              </a:lnSpc>
              <a:spcBef>
                <a:spcPts val="0"/>
              </a:spcBef>
              <a:spcAft>
                <a:spcPts val="300"/>
              </a:spcAft>
              <a:buNone/>
            </a:pPr>
            <a:r>
              <a:rPr lang="en-US" sz="1300" b="1" i="0" u="none" cap="none" strike="noStrike">
                <a:solidFill>
                  <a:srgbClr val="FFFFFF"/>
                </a:solidFill>
                <a:latin typeface="Calibri"/>
                <a:ea typeface="Calibri"/>
                <a:cs typeface="Calibri"/>
                <a:sym typeface="Calibri"/>
              </a:rPr>
              <a:t xml:space="preserve">Evaluation</a:t>
            </a:r>
          </a:p>
          <a:p>
            <a:pPr indent="0" lvl="0" marL="0" marR="0" rtl="0" algn="ctr">
              <a:lnSpc>
                <a:spcPct val="105000"/>
              </a:lnSpc>
              <a:spcBef>
                <a:spcPts val="0"/>
              </a:spcBef>
              <a:spcAft>
                <a:spcPts val="0"/>
              </a:spcAft>
              <a:buNone/>
            </a:pPr>
            <a:r>
              <a:rPr lang="en-US" sz="1000" b="0" i="0" u="none" cap="none" strike="noStrike">
                <a:solidFill>
                  <a:srgbClr val="FFFFFF"/>
                </a:solidFill>
                <a:latin typeface="Calibri"/>
                <a:ea typeface="Calibri"/>
                <a:cs typeface="Calibri"/>
                <a:sym typeface="Calibri"/>
              </a:rPr>
              <a:t xml:space="preserve">Accuracy, precision, recall, F1, confusion matrix</a:t>
            </a:r>
          </a:p>
        </p:txBody>
      </p:sp>
      <p:sp>
        <p:nvSpPr>
          <p:cNvPr id="406" name="Step 7"/>
          <p:cNvSpPr/>
          <p:nvPr/>
        </p:nvSpPr>
        <p:spPr>
          <a:xfrm>
            <a:off x="3932016" y="3800000"/>
            <a:ext cx="1900000" cy="1330000"/>
          </a:xfrm>
          <a:prstGeom prst="roundRect">
            <a:avLst>
              <a:gd name="adj" fmla="val 8000"/>
            </a:avLst>
          </a:prstGeom>
          <a:solidFill>
            <a:srgbClr val="21295C"/>
          </a:solidFill>
          <a:ln>
            <a:noFill/>
          </a:ln>
        </p:spPr>
        <p:txBody>
          <a:bodyPr anchor="ctr" wrap="square" lIns="91440" rIns="91440" tIns="45720" bIns="45720">
            <a:noAutofit/>
          </a:bodyPr>
          <a:lstStyle/>
          <a:p>
            <a:pPr indent="0" lvl="0" marL="0" marR="0" rtl="0" algn="ctr">
              <a:lnSpc>
                <a:spcPct val="100000"/>
              </a:lnSpc>
              <a:spcBef>
                <a:spcPts val="0"/>
              </a:spcBef>
              <a:spcAft>
                <a:spcPts val="200"/>
              </a:spcAft>
              <a:buNone/>
            </a:pPr>
            <a:r>
              <a:rPr lang="en-US" sz="900" b="1" i="0" u="none" cap="none" strike="noStrike">
                <a:solidFill>
                  <a:srgbClr val="CFE3EE"/>
                </a:solidFill>
                <a:latin typeface="Calibri"/>
                <a:ea typeface="Calibri"/>
                <a:cs typeface="Calibri"/>
                <a:sym typeface="Calibri"/>
              </a:rPr>
              <a:t xml:space="preserve">STEP 7</a:t>
            </a:r>
          </a:p>
          <a:p>
            <a:pPr indent="0" lvl="0" marL="0" marR="0" rtl="0" algn="ctr">
              <a:lnSpc>
                <a:spcPct val="100000"/>
              </a:lnSpc>
              <a:spcBef>
                <a:spcPts val="0"/>
              </a:spcBef>
              <a:spcAft>
                <a:spcPts val="300"/>
              </a:spcAft>
              <a:buNone/>
            </a:pPr>
            <a:r>
              <a:rPr lang="en-US" sz="1300" b="1" i="0" u="none" cap="none" strike="noStrike">
                <a:solidFill>
                  <a:srgbClr val="FFFFFF"/>
                </a:solidFill>
                <a:latin typeface="Calibri"/>
                <a:ea typeface="Calibri"/>
                <a:cs typeface="Calibri"/>
                <a:sym typeface="Calibri"/>
              </a:rPr>
              <a:t xml:space="preserve">Personalization</a:t>
            </a:r>
          </a:p>
          <a:p>
            <a:pPr indent="0" lvl="0" marL="0" marR="0" rtl="0" algn="ctr">
              <a:lnSpc>
                <a:spcPct val="105000"/>
              </a:lnSpc>
              <a:spcBef>
                <a:spcPts val="0"/>
              </a:spcBef>
              <a:spcAft>
                <a:spcPts val="0"/>
              </a:spcAft>
              <a:buNone/>
            </a:pPr>
            <a:r>
              <a:rPr lang="en-US" sz="1000" b="0" i="0" u="none" cap="none" strike="noStrike">
                <a:solidFill>
                  <a:srgbClr val="FFFFFF"/>
                </a:solidFill>
                <a:latin typeface="Calibri"/>
                <a:ea typeface="Calibri"/>
                <a:cs typeface="Calibri"/>
                <a:sym typeface="Calibri"/>
              </a:rPr>
              <a:t xml:space="preserve">Pass % + weakest subject + study recommendation</a:t>
            </a:r>
          </a:p>
        </p:txBody>
      </p:sp>
      <p:sp>
        <p:nvSpPr>
          <p:cNvPr id="407" name="Step 8"/>
          <p:cNvSpPr/>
          <p:nvPr/>
        </p:nvSpPr>
        <p:spPr>
          <a:xfrm>
            <a:off x="1534450" y="3800000"/>
            <a:ext cx="1900000" cy="1330000"/>
          </a:xfrm>
          <a:prstGeom prst="roundRect">
            <a:avLst>
              <a:gd name="adj" fmla="val 8000"/>
            </a:avLst>
          </a:prstGeom>
          <a:solidFill>
            <a:srgbClr val="1C7293"/>
          </a:solidFill>
          <a:ln>
            <a:noFill/>
          </a:ln>
        </p:spPr>
        <p:txBody>
          <a:bodyPr anchor="ctr" wrap="square" lIns="91440" rIns="91440" tIns="45720" bIns="45720">
            <a:noAutofit/>
          </a:bodyPr>
          <a:lstStyle/>
          <a:p>
            <a:pPr indent="0" lvl="0" marL="0" marR="0" rtl="0" algn="ctr">
              <a:lnSpc>
                <a:spcPct val="100000"/>
              </a:lnSpc>
              <a:spcBef>
                <a:spcPts val="0"/>
              </a:spcBef>
              <a:spcAft>
                <a:spcPts val="200"/>
              </a:spcAft>
              <a:buNone/>
            </a:pPr>
            <a:r>
              <a:rPr lang="en-US" sz="900" b="1" i="0" u="none" cap="none" strike="noStrike">
                <a:solidFill>
                  <a:srgbClr val="CFE3EE"/>
                </a:solidFill>
                <a:latin typeface="Calibri"/>
                <a:ea typeface="Calibri"/>
                <a:cs typeface="Calibri"/>
                <a:sym typeface="Calibri"/>
              </a:rPr>
              <a:t xml:space="preserve">STEP 8</a:t>
            </a:r>
          </a:p>
          <a:p>
            <a:pPr indent="0" lvl="0" marL="0" marR="0" rtl="0" algn="ctr">
              <a:lnSpc>
                <a:spcPct val="100000"/>
              </a:lnSpc>
              <a:spcBef>
                <a:spcPts val="0"/>
              </a:spcBef>
              <a:spcAft>
                <a:spcPts val="300"/>
              </a:spcAft>
              <a:buNone/>
            </a:pPr>
            <a:r>
              <a:rPr lang="en-US" sz="1300" b="1" i="0" u="none" cap="none" strike="noStrike">
                <a:solidFill>
                  <a:srgbClr val="FFFFFF"/>
                </a:solidFill>
                <a:latin typeface="Calibri"/>
                <a:ea typeface="Calibri"/>
                <a:cs typeface="Calibri"/>
                <a:sym typeface="Calibri"/>
              </a:rPr>
              <a:t xml:space="preserve">Student Report</a:t>
            </a:r>
          </a:p>
          <a:p>
            <a:pPr indent="0" lvl="0" marL="0" marR="0" rtl="0" algn="ctr">
              <a:lnSpc>
                <a:spcPct val="105000"/>
              </a:lnSpc>
              <a:spcBef>
                <a:spcPts val="0"/>
              </a:spcBef>
              <a:spcAft>
                <a:spcPts val="0"/>
              </a:spcAft>
              <a:buNone/>
            </a:pPr>
            <a:r>
              <a:rPr lang="en-US" sz="1000" b="0" i="0" u="none" cap="none" strike="noStrike">
                <a:solidFill>
                  <a:srgbClr val="FFFFFF"/>
                </a:solidFill>
                <a:latin typeface="Calibri"/>
                <a:ea typeface="Calibri"/>
                <a:cs typeface="Calibri"/>
                <a:sym typeface="Calibri"/>
              </a:rPr>
              <a:t xml:space="preserve">Individual report + class pass/fail and weak-area charts</a:t>
            </a:r>
          </a:p>
        </p:txBody>
      </p:sp>
      <p:cxnSp>
        <p:nvCxnSpPr>
          <p:cNvPr id="408" name="Arrow 408"/>
          <p:cNvCxnSpPr/>
          <p:nvPr/>
        </p:nvCxnSpPr>
        <p:spPr>
          <a:xfrm>
            <a:off x="3474450" y="2495000"/>
            <a:ext cx="417566" cy="0"/>
          </a:xfrm>
          <a:prstGeom prst="straightConnector1">
            <a:avLst/>
          </a:prstGeom>
          <a:ln w="28575">
            <a:solidFill>
              <a:srgbClr val="6B7593"/>
            </a:solidFill>
            <a:tailEnd type="triangle" w="med" len="med"/>
          </a:ln>
        </p:spPr>
      </p:cxnSp>
      <p:cxnSp>
        <p:nvCxnSpPr>
          <p:cNvPr id="409" name="Arrow 409"/>
          <p:cNvCxnSpPr/>
          <p:nvPr/>
        </p:nvCxnSpPr>
        <p:spPr>
          <a:xfrm>
            <a:off x="5872016" y="2495000"/>
            <a:ext cx="417566" cy="0"/>
          </a:xfrm>
          <a:prstGeom prst="straightConnector1">
            <a:avLst/>
          </a:prstGeom>
          <a:ln w="28575">
            <a:solidFill>
              <a:srgbClr val="6B7593"/>
            </a:solidFill>
            <a:tailEnd type="triangle" w="med" len="med"/>
          </a:ln>
        </p:spPr>
      </p:cxnSp>
      <p:cxnSp>
        <p:nvCxnSpPr>
          <p:cNvPr id="410" name="Arrow 410"/>
          <p:cNvCxnSpPr/>
          <p:nvPr/>
        </p:nvCxnSpPr>
        <p:spPr>
          <a:xfrm>
            <a:off x="8269582" y="2495000"/>
            <a:ext cx="417566" cy="0"/>
          </a:xfrm>
          <a:prstGeom prst="straightConnector1">
            <a:avLst/>
          </a:prstGeom>
          <a:ln w="28575">
            <a:solidFill>
              <a:srgbClr val="6B7593"/>
            </a:solidFill>
            <a:tailEnd type="triangle" w="med" len="med"/>
          </a:ln>
        </p:spPr>
      </p:cxnSp>
      <p:cxnSp>
        <p:nvCxnSpPr>
          <p:cNvPr id="411" name="Arrow 411"/>
          <p:cNvCxnSpPr/>
          <p:nvPr/>
        </p:nvCxnSpPr>
        <p:spPr>
          <a:xfrm>
            <a:off x="9677148" y="3200000"/>
            <a:ext cx="0" cy="560000"/>
          </a:xfrm>
          <a:prstGeom prst="straightConnector1">
            <a:avLst/>
          </a:prstGeom>
          <a:ln w="28575">
            <a:solidFill>
              <a:srgbClr val="6B7593"/>
            </a:solidFill>
            <a:tailEnd type="triangle" w="med" len="med"/>
          </a:ln>
        </p:spPr>
      </p:cxnSp>
      <p:cxnSp>
        <p:nvCxnSpPr>
          <p:cNvPr id="412" name="Arrow 412"/>
          <p:cNvCxnSpPr/>
          <p:nvPr/>
        </p:nvCxnSpPr>
        <p:spPr>
          <a:xfrm flipH="1">
            <a:off x="8269582" y="4465000"/>
            <a:ext cx="417566" cy="0"/>
          </a:xfrm>
          <a:prstGeom prst="straightConnector1">
            <a:avLst/>
          </a:prstGeom>
          <a:ln w="28575">
            <a:solidFill>
              <a:srgbClr val="6B7593"/>
            </a:solidFill>
            <a:tailEnd type="triangle" w="med" len="med"/>
          </a:ln>
        </p:spPr>
      </p:cxnSp>
      <p:cxnSp>
        <p:nvCxnSpPr>
          <p:cNvPr id="413" name="Arrow 413"/>
          <p:cNvCxnSpPr/>
          <p:nvPr/>
        </p:nvCxnSpPr>
        <p:spPr>
          <a:xfrm flipH="1">
            <a:off x="5872016" y="4465000"/>
            <a:ext cx="417566" cy="0"/>
          </a:xfrm>
          <a:prstGeom prst="straightConnector1">
            <a:avLst/>
          </a:prstGeom>
          <a:ln w="28575">
            <a:solidFill>
              <a:srgbClr val="6B7593"/>
            </a:solidFill>
            <a:tailEnd type="triangle" w="med" len="med"/>
          </a:ln>
        </p:spPr>
      </p:cxnSp>
      <p:cxnSp>
        <p:nvCxnSpPr>
          <p:cNvPr id="414" name="Arrow 414"/>
          <p:cNvCxnSpPr/>
          <p:nvPr/>
        </p:nvCxnSpPr>
        <p:spPr>
          <a:xfrm flipH="1">
            <a:off x="3474450" y="4465000"/>
            <a:ext cx="417566" cy="0"/>
          </a:xfrm>
          <a:prstGeom prst="straightConnector1">
            <a:avLst/>
          </a:prstGeom>
          <a:ln w="28575">
            <a:solidFill>
              <a:srgbClr val="6B7593"/>
            </a:solidFill>
            <a:tailEnd type="triangle" w="med" len="med"/>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151" name="Shape 151"/>
        <p:cNvGrpSpPr/>
        <p:nvPr/>
      </p:nvGrpSpPr>
      <p:grpSpPr>
        <a:xfrm>
          <a:off x="0" y="0"/>
          <a:ext cx="0" cy="0"/>
          <a:chOff x="0" y="0"/>
          <a:chExt cx="0" cy="0"/>
        </a:xfrm>
      </p:grpSpPr>
      <p:sp>
        <p:nvSpPr>
          <p:cNvPr id="152" name="Google Shape;152;p10"/>
          <p:cNvSpPr/>
          <p:nvPr/>
        </p:nvSpPr>
        <p:spPr>
          <a:xfrm>
            <a:off x="10424160" y="-1463040"/>
            <a:ext cx="3108960" cy="3108960"/>
          </a:xfrm>
          <a:prstGeom prst="ellipse">
            <a:avLst/>
          </a:prstGeom>
          <a:solidFill>
            <a:srgbClr val="1C7293">
              <a:alpha val="784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0"/>
          <p:cNvSpPr/>
          <p:nvPr/>
        </p:nvSpPr>
        <p:spPr>
          <a:xfrm>
            <a:off x="-1097280" y="5669280"/>
            <a:ext cx="2194560" cy="2194560"/>
          </a:xfrm>
          <a:prstGeom prst="ellipse">
            <a:avLst/>
          </a:prstGeom>
          <a:solidFill>
            <a:srgbClr val="21295C">
              <a:alpha val="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10"/>
          <p:cNvSpPr/>
          <p:nvPr/>
        </p:nvSpPr>
        <p:spPr>
          <a:xfrm>
            <a:off x="502920" y="457200"/>
            <a:ext cx="530352" cy="530352"/>
          </a:xfrm>
          <a:prstGeom prst="roundRect">
            <a:avLst>
              <a:gd fmla="val 20690" name="adj"/>
            </a:avLst>
          </a:prstGeom>
          <a:solidFill>
            <a:srgbClr val="2129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10"/>
          <p:cNvSpPr/>
          <p:nvPr/>
        </p:nvSpPr>
        <p:spPr>
          <a:xfrm>
            <a:off x="502920" y="457200"/>
            <a:ext cx="530352" cy="5303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07</a:t>
            </a:r>
            <a:endParaRPr b="0" i="0" sz="1600" u="none" cap="none" strike="noStrike">
              <a:solidFill>
                <a:schemeClr val="dk1"/>
              </a:solidFill>
              <a:latin typeface="Calibri"/>
              <a:ea typeface="Calibri"/>
              <a:cs typeface="Calibri"/>
              <a:sym typeface="Calibri"/>
            </a:endParaRPr>
          </a:p>
        </p:txBody>
      </p:sp>
      <p:sp>
        <p:nvSpPr>
          <p:cNvPr id="156" name="Google Shape;156;p10"/>
          <p:cNvSpPr/>
          <p:nvPr/>
        </p:nvSpPr>
        <p:spPr>
          <a:xfrm>
            <a:off x="1234440" y="429768"/>
            <a:ext cx="8686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C7293"/>
              </a:buClr>
              <a:buSzPts val="1100"/>
              <a:buFont typeface="Calibri"/>
              <a:buNone/>
            </a:pPr>
            <a:r>
              <a:rPr b="1" i="0" lang="en-US" sz="1100" u="none" cap="none" strike="noStrike">
                <a:solidFill>
                  <a:srgbClr val="1C7293"/>
                </a:solidFill>
                <a:latin typeface="Calibri"/>
                <a:ea typeface="Calibri"/>
                <a:cs typeface="Calibri"/>
                <a:sym typeface="Calibri"/>
              </a:rPr>
              <a:t>SECTION 07</a:t>
            </a:r>
            <a:endParaRPr b="0" i="0" sz="1100" u="none" cap="none" strike="noStrike">
              <a:solidFill>
                <a:schemeClr val="dk1"/>
              </a:solidFill>
              <a:latin typeface="Calibri"/>
              <a:ea typeface="Calibri"/>
              <a:cs typeface="Calibri"/>
              <a:sym typeface="Calibri"/>
            </a:endParaRPr>
          </a:p>
        </p:txBody>
      </p:sp>
      <p:sp>
        <p:nvSpPr>
          <p:cNvPr id="157" name="Google Shape;157;p10"/>
          <p:cNvSpPr/>
          <p:nvPr/>
        </p:nvSpPr>
        <p:spPr>
          <a:xfrm>
            <a:off x="1234440" y="676656"/>
            <a:ext cx="96926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Expected Outcome</a:t>
            </a:r>
            <a:endParaRPr b="0" i="0" sz="3000" u="none" cap="none" strike="noStrike">
              <a:solidFill>
                <a:schemeClr val="dk1"/>
              </a:solidFill>
              <a:latin typeface="Calibri"/>
              <a:ea typeface="Calibri"/>
              <a:cs typeface="Calibri"/>
              <a:sym typeface="Calibri"/>
            </a:endParaRPr>
          </a:p>
        </p:txBody>
      </p:sp>
      <p:sp>
        <p:nvSpPr>
          <p:cNvPr id="158" name="Google Shape;158;p10"/>
          <p:cNvSpPr/>
          <p:nvPr/>
        </p:nvSpPr>
        <p:spPr>
          <a:xfrm>
            <a:off x="1249640" y="1600190"/>
            <a:ext cx="9692700" cy="777300"/>
          </a:xfrm>
          <a:prstGeom prst="roundRect">
            <a:avLst>
              <a:gd fmla="val 10588" name="adj"/>
            </a:avLst>
          </a:prstGeom>
          <a:solidFill>
            <a:srgbClr val="FFFFFF"/>
          </a:solidFill>
          <a:ln cap="flat" cmpd="sng" w="12700">
            <a:solidFill>
              <a:srgbClr val="DEE4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10"/>
          <p:cNvSpPr/>
          <p:nvPr/>
        </p:nvSpPr>
        <p:spPr>
          <a:xfrm>
            <a:off x="1478240" y="1801358"/>
            <a:ext cx="384000" cy="384000"/>
          </a:xfrm>
          <a:prstGeom prst="ellipse">
            <a:avLst/>
          </a:prstGeom>
          <a:solidFill>
            <a:srgbClr val="1C72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0"/>
          <p:cNvSpPr/>
          <p:nvPr/>
        </p:nvSpPr>
        <p:spPr>
          <a:xfrm>
            <a:off x="1478240" y="1801358"/>
            <a:ext cx="384000" cy="38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161" name="Google Shape;161;p10"/>
          <p:cNvSpPr/>
          <p:nvPr/>
        </p:nvSpPr>
        <p:spPr>
          <a:xfrm>
            <a:off x="2072600" y="1600190"/>
            <a:ext cx="8595300" cy="77730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None/>
            </a:pPr>
            <a:r>
              <a:rPr lang="en-US" sz="1300" b="1" i="0" u="none" cap="none" strike="noStrike">
                <a:solidFill>
                  <a:srgbClr val="21295C"/>
                </a:solidFill>
                <a:latin typeface="Calibri"/>
                <a:ea typeface="Calibri"/>
                <a:cs typeface="Calibri"/>
                <a:sym typeface="Calibri"/>
              </a:rPr>
              <a:t xml:space="preserve">Accurate Pass/Fail prediction: </a:t>
            </a:r>
            <a:r>
              <a:rPr lang="en-US" sz="1300" b="0" i="0" u="none" cap="none" strike="noStrike">
                <a:solidFill>
                  <a:srgbClr val="1B1F3B"/>
                </a:solidFill>
                <a:latin typeface="Calibri"/>
                <a:ea typeface="Calibri"/>
                <a:cs typeface="Calibri"/>
                <a:sym typeface="Calibri"/>
              </a:rPr>
              <a:t xml:space="preserve">Logistic Regression reaches 99.5% accuracy, 100% precision, 99.5% recall and 99.7% F1-score on the 200-student test set.</a:t>
            </a:r>
          </a:p>
        </p:txBody>
      </p:sp>
      <p:sp>
        <p:nvSpPr>
          <p:cNvPr id="162" name="Google Shape;162;p10"/>
          <p:cNvSpPr/>
          <p:nvPr/>
        </p:nvSpPr>
        <p:spPr>
          <a:xfrm>
            <a:off x="1249640" y="2560310"/>
            <a:ext cx="9692700" cy="777300"/>
          </a:xfrm>
          <a:prstGeom prst="roundRect">
            <a:avLst>
              <a:gd fmla="val 10588" name="adj"/>
            </a:avLst>
          </a:prstGeom>
          <a:solidFill>
            <a:srgbClr val="FFFFFF"/>
          </a:solidFill>
          <a:ln cap="flat" cmpd="sng" w="12700">
            <a:solidFill>
              <a:srgbClr val="DEE4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10"/>
          <p:cNvSpPr/>
          <p:nvPr/>
        </p:nvSpPr>
        <p:spPr>
          <a:xfrm>
            <a:off x="1478240" y="2761478"/>
            <a:ext cx="384000" cy="384000"/>
          </a:xfrm>
          <a:prstGeom prst="ellipse">
            <a:avLst/>
          </a:prstGeom>
          <a:solidFill>
            <a:srgbClr val="1C72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0"/>
          <p:cNvSpPr/>
          <p:nvPr/>
        </p:nvSpPr>
        <p:spPr>
          <a:xfrm>
            <a:off x="1478240" y="2761478"/>
            <a:ext cx="384000" cy="38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165" name="Google Shape;165;p10"/>
          <p:cNvSpPr/>
          <p:nvPr/>
        </p:nvSpPr>
        <p:spPr>
          <a:xfrm>
            <a:off x="2072600" y="2560310"/>
            <a:ext cx="8595300" cy="77730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None/>
            </a:pPr>
            <a:r>
              <a:rPr lang="en-US" sz="1300" b="1" i="0" u="none" cap="none" strike="noStrike">
                <a:solidFill>
                  <a:srgbClr val="21295C"/>
                </a:solidFill>
                <a:latin typeface="Calibri"/>
                <a:ea typeface="Calibri"/>
                <a:cs typeface="Calibri"/>
                <a:sym typeface="Calibri"/>
              </a:rPr>
              <a:t xml:space="preserve">Personal pass percentage: </a:t>
            </a:r>
            <a:r>
              <a:rPr lang="en-US" sz="1300" b="0" i="0" u="none" cap="none" strike="noStrike">
                <a:solidFill>
                  <a:srgbClr val="1B1F3B"/>
                </a:solidFill>
                <a:latin typeface="Calibri"/>
                <a:ea typeface="Calibri"/>
                <a:cs typeface="Calibri"/>
                <a:sym typeface="Calibri"/>
              </a:rPr>
              <a:t xml:space="preserve">each student sees their own likelihood of passing (e.g. “82% chance of passing”) using predict_proba, not just a label.</a:t>
            </a:r>
          </a:p>
        </p:txBody>
      </p:sp>
      <p:sp>
        <p:nvSpPr>
          <p:cNvPr id="166" name="Google Shape;166;p10"/>
          <p:cNvSpPr/>
          <p:nvPr/>
        </p:nvSpPr>
        <p:spPr>
          <a:xfrm>
            <a:off x="1249640" y="3520430"/>
            <a:ext cx="9692700" cy="777300"/>
          </a:xfrm>
          <a:prstGeom prst="roundRect">
            <a:avLst>
              <a:gd fmla="val 10588" name="adj"/>
            </a:avLst>
          </a:prstGeom>
          <a:solidFill>
            <a:srgbClr val="FFFFFF"/>
          </a:solidFill>
          <a:ln cap="flat" cmpd="sng" w="12700">
            <a:solidFill>
              <a:srgbClr val="DEE4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10"/>
          <p:cNvSpPr/>
          <p:nvPr/>
        </p:nvSpPr>
        <p:spPr>
          <a:xfrm>
            <a:off x="1478240" y="3721598"/>
            <a:ext cx="384000" cy="384000"/>
          </a:xfrm>
          <a:prstGeom prst="ellipse">
            <a:avLst/>
          </a:prstGeom>
          <a:solidFill>
            <a:srgbClr val="1C72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0"/>
          <p:cNvSpPr/>
          <p:nvPr/>
        </p:nvSpPr>
        <p:spPr>
          <a:xfrm>
            <a:off x="1478240" y="3721598"/>
            <a:ext cx="384000" cy="38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169" name="Google Shape;169;p10"/>
          <p:cNvSpPr/>
          <p:nvPr/>
        </p:nvSpPr>
        <p:spPr>
          <a:xfrm>
            <a:off x="2072600" y="3520430"/>
            <a:ext cx="8595300" cy="77730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None/>
            </a:pPr>
            <a:r>
              <a:rPr lang="en-US" sz="1300" b="1" i="0" u="none" cap="none" strike="noStrike">
                <a:solidFill>
                  <a:srgbClr val="21295C"/>
                </a:solidFill>
                <a:latin typeface="Calibri"/>
                <a:ea typeface="Calibri"/>
                <a:cs typeface="Calibri"/>
                <a:sym typeface="Calibri"/>
              </a:rPr>
              <a:t xml:space="preserve">Weakest subject + study advice: </a:t>
            </a:r>
            <a:r>
              <a:rPr lang="en-US" sz="1300" b="0" i="0" u="none" cap="none" strike="noStrike">
                <a:solidFill>
                  <a:srgbClr val="1B1F3B"/>
                </a:solidFill>
                <a:latin typeface="Calibri"/>
                <a:ea typeface="Calibri"/>
                <a:cs typeface="Calibri"/>
                <a:sym typeface="Calibri"/>
              </a:rPr>
              <a:t xml:space="preserve">the lowest-scoring subject is identified and turned into a direct recommendation, e.g. “focus more on Mathematics”.</a:t>
            </a:r>
          </a:p>
        </p:txBody>
      </p:sp>
      <p:sp>
        <p:nvSpPr>
          <p:cNvPr id="170" name="Google Shape;170;p10"/>
          <p:cNvSpPr/>
          <p:nvPr/>
        </p:nvSpPr>
        <p:spPr>
          <a:xfrm>
            <a:off x="1249640" y="4480550"/>
            <a:ext cx="9692700" cy="777300"/>
          </a:xfrm>
          <a:prstGeom prst="roundRect">
            <a:avLst>
              <a:gd fmla="val 10588" name="adj"/>
            </a:avLst>
          </a:prstGeom>
          <a:solidFill>
            <a:srgbClr val="FFFFFF"/>
          </a:solidFill>
          <a:ln cap="flat" cmpd="sng" w="12700">
            <a:solidFill>
              <a:srgbClr val="DEE4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10"/>
          <p:cNvSpPr/>
          <p:nvPr/>
        </p:nvSpPr>
        <p:spPr>
          <a:xfrm>
            <a:off x="1478240" y="4681718"/>
            <a:ext cx="384000" cy="384000"/>
          </a:xfrm>
          <a:prstGeom prst="ellipse">
            <a:avLst/>
          </a:prstGeom>
          <a:solidFill>
            <a:srgbClr val="1C72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0"/>
          <p:cNvSpPr/>
          <p:nvPr/>
        </p:nvSpPr>
        <p:spPr>
          <a:xfrm>
            <a:off x="1478240" y="4681718"/>
            <a:ext cx="384000" cy="38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173" name="Google Shape;173;p10"/>
          <p:cNvSpPr/>
          <p:nvPr/>
        </p:nvSpPr>
        <p:spPr>
          <a:xfrm>
            <a:off x="2072600" y="4480550"/>
            <a:ext cx="8595300" cy="77730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None/>
            </a:pPr>
            <a:r>
              <a:rPr lang="en-US" sz="1300" b="1" i="0" u="none" cap="none" strike="noStrike">
                <a:solidFill>
                  <a:srgbClr val="21295C"/>
                </a:solidFill>
                <a:latin typeface="Calibri"/>
                <a:ea typeface="Calibri"/>
                <a:cs typeface="Calibri"/>
                <a:sym typeface="Calibri"/>
              </a:rPr>
              <a:t xml:space="preserve">Individual report + class charts: </a:t>
            </a:r>
            <a:r>
              <a:rPr lang="en-US" sz="1300" b="0" i="0" u="none" cap="none" strike="noStrike">
                <a:solidFill>
                  <a:srgbClr val="1B1F3B"/>
                </a:solidFill>
                <a:latin typeface="Calibri"/>
                <a:ea typeface="Calibri"/>
                <a:cs typeface="Calibri"/>
                <a:sym typeface="Calibri"/>
              </a:rPr>
              <a:t xml:space="preserve">label, percentage, weak area and advice in one view. Note: high accuracy is expected as Pass/Fail is derived from the same scores – it validates the pipeline, not real-world forecasting.</a:t>
            </a:r>
          </a:p>
        </p:txBody>
      </p:sp>
      <p:sp>
        <p:nvSpPr>
          <p:cNvPr id="174" name="Google Shape;174;p10"/>
          <p:cNvSpPr/>
          <p:nvPr/>
        </p:nvSpPr>
        <p:spPr>
          <a:xfrm>
            <a:off x="502920" y="6519672"/>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B.TECH THIRD YEAR  ·  MINI PROJECT PRESENTATION</a:t>
            </a:r>
            <a:endParaRPr b="0" i="0" sz="900" u="none" cap="none" strike="noStrike">
              <a:solidFill>
                <a:schemeClr val="dk1"/>
              </a:solidFill>
              <a:latin typeface="Calibri"/>
              <a:ea typeface="Calibri"/>
              <a:cs typeface="Calibri"/>
              <a:sym typeface="Calibri"/>
            </a:endParaRPr>
          </a:p>
        </p:txBody>
      </p:sp>
      <p:sp>
        <p:nvSpPr>
          <p:cNvPr id="175" name="Google Shape;175;p10"/>
          <p:cNvSpPr/>
          <p:nvPr/>
        </p:nvSpPr>
        <p:spPr>
          <a:xfrm>
            <a:off x="11228832" y="6519672"/>
            <a:ext cx="45720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180" name="Shape 180"/>
        <p:cNvGrpSpPr/>
        <p:nvPr/>
      </p:nvGrpSpPr>
      <p:grpSpPr>
        <a:xfrm>
          <a:off x="0" y="0"/>
          <a:ext cx="0" cy="0"/>
          <a:chOff x="0" y="0"/>
          <a:chExt cx="0" cy="0"/>
        </a:xfrm>
      </p:grpSpPr>
      <p:sp>
        <p:nvSpPr>
          <p:cNvPr id="181" name="Google Shape;181;p11"/>
          <p:cNvSpPr/>
          <p:nvPr/>
        </p:nvSpPr>
        <p:spPr>
          <a:xfrm>
            <a:off x="10424160" y="-1463040"/>
            <a:ext cx="3108960" cy="3108960"/>
          </a:xfrm>
          <a:prstGeom prst="ellipse">
            <a:avLst/>
          </a:prstGeom>
          <a:solidFill>
            <a:srgbClr val="1C7293">
              <a:alpha val="784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1"/>
          <p:cNvSpPr/>
          <p:nvPr/>
        </p:nvSpPr>
        <p:spPr>
          <a:xfrm>
            <a:off x="-1097280" y="5669280"/>
            <a:ext cx="2194560" cy="2194560"/>
          </a:xfrm>
          <a:prstGeom prst="ellipse">
            <a:avLst/>
          </a:prstGeom>
          <a:solidFill>
            <a:srgbClr val="21295C">
              <a:alpha val="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1"/>
          <p:cNvSpPr/>
          <p:nvPr/>
        </p:nvSpPr>
        <p:spPr>
          <a:xfrm>
            <a:off x="502920" y="457200"/>
            <a:ext cx="530352" cy="530352"/>
          </a:xfrm>
          <a:prstGeom prst="roundRect">
            <a:avLst>
              <a:gd fmla="val 20690" name="adj"/>
            </a:avLst>
          </a:prstGeom>
          <a:solidFill>
            <a:srgbClr val="2129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11"/>
          <p:cNvSpPr/>
          <p:nvPr/>
        </p:nvSpPr>
        <p:spPr>
          <a:xfrm>
            <a:off x="502920" y="457200"/>
            <a:ext cx="530352" cy="5303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08</a:t>
            </a:r>
            <a:endParaRPr b="0" i="0" sz="1600" u="none" cap="none" strike="noStrike">
              <a:solidFill>
                <a:schemeClr val="dk1"/>
              </a:solidFill>
              <a:latin typeface="Calibri"/>
              <a:ea typeface="Calibri"/>
              <a:cs typeface="Calibri"/>
              <a:sym typeface="Calibri"/>
            </a:endParaRPr>
          </a:p>
        </p:txBody>
      </p:sp>
      <p:sp>
        <p:nvSpPr>
          <p:cNvPr id="185" name="Google Shape;185;p11"/>
          <p:cNvSpPr/>
          <p:nvPr/>
        </p:nvSpPr>
        <p:spPr>
          <a:xfrm>
            <a:off x="1234440" y="429768"/>
            <a:ext cx="8686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C7293"/>
              </a:buClr>
              <a:buSzPts val="1100"/>
              <a:buFont typeface="Calibri"/>
              <a:buNone/>
            </a:pPr>
            <a:r>
              <a:rPr b="1" i="0" lang="en-US" sz="1100" u="none" cap="none" strike="noStrike">
                <a:solidFill>
                  <a:srgbClr val="1C7293"/>
                </a:solidFill>
                <a:latin typeface="Calibri"/>
                <a:ea typeface="Calibri"/>
                <a:cs typeface="Calibri"/>
                <a:sym typeface="Calibri"/>
              </a:rPr>
              <a:t>SECTION 08</a:t>
            </a:r>
            <a:endParaRPr b="0" i="0" sz="1100" u="none" cap="none" strike="noStrike">
              <a:solidFill>
                <a:schemeClr val="dk1"/>
              </a:solidFill>
              <a:latin typeface="Calibri"/>
              <a:ea typeface="Calibri"/>
              <a:cs typeface="Calibri"/>
              <a:sym typeface="Calibri"/>
            </a:endParaRPr>
          </a:p>
        </p:txBody>
      </p:sp>
      <p:sp>
        <p:nvSpPr>
          <p:cNvPr id="186" name="Google Shape;186;p11"/>
          <p:cNvSpPr/>
          <p:nvPr/>
        </p:nvSpPr>
        <p:spPr>
          <a:xfrm>
            <a:off x="1234440" y="676656"/>
            <a:ext cx="96926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References</a:t>
            </a:r>
            <a:endParaRPr b="0" i="0" sz="3000" u="none" cap="none" strike="noStrike">
              <a:solidFill>
                <a:schemeClr val="dk1"/>
              </a:solidFill>
              <a:latin typeface="Calibri"/>
              <a:ea typeface="Calibri"/>
              <a:cs typeface="Calibri"/>
              <a:sym typeface="Calibri"/>
            </a:endParaRPr>
          </a:p>
        </p:txBody>
      </p:sp>
      <p:sp>
        <p:nvSpPr>
          <p:cNvPr id="187" name="Google Shape;187;p11"/>
          <p:cNvSpPr/>
          <p:nvPr/>
        </p:nvSpPr>
        <p:spPr>
          <a:xfrm>
            <a:off x="1249640" y="4563960"/>
            <a:ext cx="96927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7593"/>
              </a:buClr>
              <a:buSzPts val="1300"/>
              <a:buFont typeface="Calibri"/>
              <a:buNone/>
            </a:pPr>
            <a:r>
              <a:rPr b="0" i="1" lang="en-US" sz="1400" u="none" cap="none" strike="noStrike">
                <a:solidFill>
                  <a:srgbClr val="6B7593"/>
                </a:solidFill>
                <a:latin typeface="Calibri"/>
                <a:ea typeface="Calibri"/>
                <a:cs typeface="Calibri"/>
                <a:sym typeface="Calibri"/>
              </a:rPr>
              <a:t>NOTE: All references must be cited in IEEE format.</a:t>
            </a:r>
            <a:endParaRPr b="0" i="0" sz="1400" u="none" cap="none" strike="noStrike">
              <a:solidFill>
                <a:schemeClr val="dk1"/>
              </a:solidFill>
              <a:latin typeface="Calibri"/>
              <a:ea typeface="Calibri"/>
              <a:cs typeface="Calibri"/>
              <a:sym typeface="Calibri"/>
            </a:endParaRPr>
          </a:p>
        </p:txBody>
      </p:sp>
      <p:sp>
        <p:nvSpPr>
          <p:cNvPr id="188" name="Google Shape;188;p11"/>
          <p:cNvSpPr/>
          <p:nvPr/>
        </p:nvSpPr>
        <p:spPr>
          <a:xfrm>
            <a:off x="1249650" y="1243575"/>
            <a:ext cx="9692700" cy="33000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900"/>
              </a:spcAft>
              <a:buNone/>
            </a:pPr>
            <a:r>
              <a:rPr lang="en-US" sz="1200" b="1" i="0" u="none" cap="none" strike="noStrike">
                <a:solidFill>
                  <a:srgbClr val="1C7293"/>
                </a:solidFill>
                <a:latin typeface="Calibri"/>
                <a:ea typeface="Calibri"/>
                <a:cs typeface="Calibri"/>
                <a:sym typeface="Calibri"/>
              </a:rPr>
              <a:t xml:space="preserve">[1]   </a:t>
            </a:r>
            <a:r>
              <a:rPr lang="en-US" sz="1200" b="0" i="0" u="none" cap="none" strike="noStrike">
                <a:solidFill>
                  <a:srgbClr val="1B1F3B"/>
                </a:solidFill>
                <a:latin typeface="Calibri"/>
                <a:ea typeface="Calibri"/>
                <a:cs typeface="Calibri"/>
                <a:sym typeface="Calibri"/>
              </a:rPr>
              <a:t xml:space="preserve">P. Cortez and A. Silva, “Using data mining to predict secondary school student performance,” in Proc. 5th Future Business Technology Conf. (FUBUTEC), Porto, Portugal, 2008, pp. 5–12.</a:t>
            </a:r>
          </a:p>
          <a:p>
            <a:pPr indent="0" lvl="0" marL="0" marR="0" rtl="0" algn="l">
              <a:lnSpc>
                <a:spcPct val="110000"/>
              </a:lnSpc>
              <a:spcBef>
                <a:spcPts val="0"/>
              </a:spcBef>
              <a:spcAft>
                <a:spcPts val="900"/>
              </a:spcAft>
              <a:buNone/>
            </a:pPr>
            <a:r>
              <a:rPr lang="en-US" sz="1200" b="1" i="0" u="none" cap="none" strike="noStrike">
                <a:solidFill>
                  <a:srgbClr val="1C7293"/>
                </a:solidFill>
                <a:latin typeface="Calibri"/>
                <a:ea typeface="Calibri"/>
                <a:cs typeface="Calibri"/>
                <a:sym typeface="Calibri"/>
              </a:rPr>
              <a:t xml:space="preserve">[2]   </a:t>
            </a:r>
            <a:r>
              <a:rPr lang="en-US" sz="1200" b="0" i="0" u="none" cap="none" strike="noStrike">
                <a:solidFill>
                  <a:srgbClr val="1B1F3B"/>
                </a:solidFill>
                <a:latin typeface="Calibri"/>
                <a:ea typeface="Calibri"/>
                <a:cs typeface="Calibri"/>
                <a:sym typeface="Calibri"/>
              </a:rPr>
              <a:t xml:space="preserve">Kaggle, “Students Performance in Exams,” dataset. [Online]. Available: https://www.kaggle.com/datasets/spscientist/students-performance-in-exams</a:t>
            </a:r>
          </a:p>
          <a:p>
            <a:pPr indent="0" lvl="0" marL="0" marR="0" rtl="0" algn="l">
              <a:lnSpc>
                <a:spcPct val="110000"/>
              </a:lnSpc>
              <a:spcBef>
                <a:spcPts val="0"/>
              </a:spcBef>
              <a:spcAft>
                <a:spcPts val="900"/>
              </a:spcAft>
              <a:buNone/>
            </a:pPr>
            <a:r>
              <a:rPr lang="en-US" sz="1200" b="1" i="0" u="none" cap="none" strike="noStrike">
                <a:solidFill>
                  <a:srgbClr val="1C7293"/>
                </a:solidFill>
                <a:latin typeface="Calibri"/>
                <a:ea typeface="Calibri"/>
                <a:cs typeface="Calibri"/>
                <a:sym typeface="Calibri"/>
              </a:rPr>
              <a:t xml:space="preserve">[3]   </a:t>
            </a:r>
            <a:r>
              <a:rPr lang="en-US" sz="1200" b="0" i="0" u="none" cap="none" strike="noStrike">
                <a:solidFill>
                  <a:srgbClr val="1B1F3B"/>
                </a:solidFill>
                <a:latin typeface="Calibri"/>
                <a:ea typeface="Calibri"/>
                <a:cs typeface="Calibri"/>
                <a:sym typeface="Calibri"/>
              </a:rPr>
              <a:t xml:space="preserve">F. Pedregosa et al., “Scikit-learn: Machine learning in Python,” J. Mach. Learn. Res., vol. 12, pp. 2825–2830, 2011.</a:t>
            </a:r>
          </a:p>
          <a:p>
            <a:pPr indent="0" lvl="0" marL="0" marR="0" rtl="0" algn="l">
              <a:lnSpc>
                <a:spcPct val="110000"/>
              </a:lnSpc>
              <a:spcBef>
                <a:spcPts val="0"/>
              </a:spcBef>
              <a:spcAft>
                <a:spcPts val="900"/>
              </a:spcAft>
              <a:buNone/>
            </a:pPr>
            <a:r>
              <a:rPr lang="en-US" sz="1200" b="1" i="0" u="none" cap="none" strike="noStrike">
                <a:solidFill>
                  <a:srgbClr val="1C7293"/>
                </a:solidFill>
                <a:latin typeface="Calibri"/>
                <a:ea typeface="Calibri"/>
                <a:cs typeface="Calibri"/>
                <a:sym typeface="Calibri"/>
              </a:rPr>
              <a:t xml:space="preserve">[4]   </a:t>
            </a:r>
            <a:r>
              <a:rPr lang="en-US" sz="1200" b="0" i="0" u="none" cap="none" strike="noStrike">
                <a:solidFill>
                  <a:srgbClr val="1B1F3B"/>
                </a:solidFill>
                <a:latin typeface="Calibri"/>
                <a:ea typeface="Calibri"/>
                <a:cs typeface="Calibri"/>
                <a:sym typeface="Calibri"/>
              </a:rPr>
              <a:t xml:space="preserve">A. Géron, Hands-On Machine Learning with Scikit-Learn, Keras, and TensorFlow, 3rd ed. Sebastopol, CA, USA: O’Reilly Media, 2022.</a:t>
            </a:r>
          </a:p>
          <a:p>
            <a:pPr indent="0" lvl="0" marL="0" marR="0" rtl="0" algn="l">
              <a:lnSpc>
                <a:spcPct val="110000"/>
              </a:lnSpc>
              <a:spcBef>
                <a:spcPts val="0"/>
              </a:spcBef>
              <a:spcAft>
                <a:spcPts val="900"/>
              </a:spcAft>
              <a:buNone/>
            </a:pPr>
            <a:r>
              <a:rPr lang="en-US" sz="1200" b="1" i="0" u="none" cap="none" strike="noStrike">
                <a:solidFill>
                  <a:srgbClr val="1C7293"/>
                </a:solidFill>
                <a:latin typeface="Calibri"/>
                <a:ea typeface="Calibri"/>
                <a:cs typeface="Calibri"/>
                <a:sym typeface="Calibri"/>
              </a:rPr>
              <a:t xml:space="preserve">[5]   </a:t>
            </a:r>
            <a:r>
              <a:rPr lang="en-US" sz="1200" b="0" i="0" u="none" cap="none" strike="noStrike">
                <a:solidFill>
                  <a:srgbClr val="1B1F3B"/>
                </a:solidFill>
                <a:latin typeface="Calibri"/>
                <a:ea typeface="Calibri"/>
                <a:cs typeface="Calibri"/>
                <a:sym typeface="Calibri"/>
              </a:rPr>
              <a:t xml:space="preserve">J. Han, M. Kamber, and J. Pei, Data Mining: Concepts and Techniques, 3rd ed. Waltham, MA, USA: Morgan Kaufmann, 2011.</a:t>
            </a:r>
          </a:p>
        </p:txBody>
      </p:sp>
      <p:sp>
        <p:nvSpPr>
          <p:cNvPr id="189" name="Google Shape;189;p11"/>
          <p:cNvSpPr/>
          <p:nvPr/>
        </p:nvSpPr>
        <p:spPr>
          <a:xfrm>
            <a:off x="502920" y="6519672"/>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B.TECH THIRD YEAR  ·  MINI PROJECT PRESENTATION</a:t>
            </a:r>
            <a:endParaRPr b="0" i="0" sz="900" u="none" cap="none" strike="noStrike">
              <a:solidFill>
                <a:schemeClr val="dk1"/>
              </a:solidFill>
              <a:latin typeface="Calibri"/>
              <a:ea typeface="Calibri"/>
              <a:cs typeface="Calibri"/>
              <a:sym typeface="Calibri"/>
            </a:endParaRPr>
          </a:p>
        </p:txBody>
      </p:sp>
      <p:sp>
        <p:nvSpPr>
          <p:cNvPr id="190" name="Google Shape;190;p11"/>
          <p:cNvSpPr/>
          <p:nvPr/>
        </p:nvSpPr>
        <p:spPr>
          <a:xfrm>
            <a:off x="11228832" y="6519672"/>
            <a:ext cx="45720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295C"/>
        </a:solidFill>
      </p:bgPr>
    </p:bg>
    <p:spTree>
      <p:nvGrpSpPr>
        <p:cNvPr id="195" name="Shape 195"/>
        <p:cNvGrpSpPr/>
        <p:nvPr/>
      </p:nvGrpSpPr>
      <p:grpSpPr>
        <a:xfrm>
          <a:off x="0" y="0"/>
          <a:ext cx="0" cy="0"/>
          <a:chOff x="0" y="0"/>
          <a:chExt cx="0" cy="0"/>
        </a:xfrm>
      </p:grpSpPr>
      <p:sp>
        <p:nvSpPr>
          <p:cNvPr id="196" name="Google Shape;196;p12"/>
          <p:cNvSpPr/>
          <p:nvPr/>
        </p:nvSpPr>
        <p:spPr>
          <a:xfrm>
            <a:off x="10424160" y="-1463040"/>
            <a:ext cx="3108960" cy="3108960"/>
          </a:xfrm>
          <a:prstGeom prst="ellipse">
            <a:avLst/>
          </a:prstGeom>
          <a:solidFill>
            <a:srgbClr val="1C7293">
              <a:alpha val="1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12"/>
          <p:cNvSpPr/>
          <p:nvPr/>
        </p:nvSpPr>
        <p:spPr>
          <a:xfrm>
            <a:off x="-1097280" y="5669280"/>
            <a:ext cx="2194560" cy="2194560"/>
          </a:xfrm>
          <a:prstGeom prst="ellipse">
            <a:avLst/>
          </a:prstGeom>
          <a:solidFill>
            <a:srgbClr val="CFE3EE">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12"/>
          <p:cNvSpPr/>
          <p:nvPr/>
        </p:nvSpPr>
        <p:spPr>
          <a:xfrm>
            <a:off x="914400" y="2468880"/>
            <a:ext cx="10360152" cy="10058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4800"/>
              <a:buFont typeface="Cambria"/>
              <a:buNone/>
            </a:pPr>
            <a:r>
              <a:rPr b="1" i="0" lang="en-US" sz="4800" u="none" cap="none" strike="noStrike">
                <a:solidFill>
                  <a:srgbClr val="FFFFFF"/>
                </a:solidFill>
                <a:latin typeface="Cambria"/>
                <a:ea typeface="Cambria"/>
                <a:cs typeface="Cambria"/>
                <a:sym typeface="Cambria"/>
              </a:rPr>
              <a:t>THANK YOU</a:t>
            </a:r>
            <a:endParaRPr b="0" i="0" sz="4800" u="none" cap="none" strike="noStrike">
              <a:solidFill>
                <a:schemeClr val="dk1"/>
              </a:solidFill>
              <a:latin typeface="Calibri"/>
              <a:ea typeface="Calibri"/>
              <a:cs typeface="Calibri"/>
              <a:sym typeface="Calibri"/>
            </a:endParaRPr>
          </a:p>
        </p:txBody>
      </p:sp>
      <p:sp>
        <p:nvSpPr>
          <p:cNvPr id="199" name="Google Shape;199;p12"/>
          <p:cNvSpPr/>
          <p:nvPr/>
        </p:nvSpPr>
        <p:spPr>
          <a:xfrm>
            <a:off x="914400" y="3520440"/>
            <a:ext cx="10360152"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FE3EE"/>
              </a:buClr>
              <a:buSzPts val="1600"/>
              <a:buFont typeface="Calibri"/>
              <a:buNone/>
            </a:pPr>
            <a:r>
              <a:rPr b="0" i="1" lang="en-US" sz="1600" u="none" cap="none" strike="noStrike">
                <a:solidFill>
                  <a:srgbClr val="CFE3EE"/>
                </a:solidFill>
                <a:latin typeface="Calibri"/>
                <a:ea typeface="Calibri"/>
                <a:cs typeface="Calibri"/>
                <a:sym typeface="Calibri"/>
              </a:rPr>
              <a:t>Questions &amp; suggestions are welcome</a:t>
            </a:r>
            <a:endParaRPr b="0" i="0" sz="1600" u="none" cap="none" strike="noStrike">
              <a:solidFill>
                <a:schemeClr val="dk1"/>
              </a:solidFill>
              <a:latin typeface="Calibri"/>
              <a:ea typeface="Calibri"/>
              <a:cs typeface="Calibri"/>
              <a:sym typeface="Calibri"/>
            </a:endParaRPr>
          </a:p>
        </p:txBody>
      </p:sp>
      <p:cxnSp>
        <p:nvCxnSpPr>
          <p:cNvPr id="200" name="Google Shape;200;p12"/>
          <p:cNvCxnSpPr/>
          <p:nvPr/>
        </p:nvCxnSpPr>
        <p:spPr>
          <a:xfrm>
            <a:off x="5271516" y="4160520"/>
            <a:ext cx="1645920" cy="0"/>
          </a:xfrm>
          <a:prstGeom prst="straightConnector1">
            <a:avLst/>
          </a:prstGeom>
          <a:noFill/>
          <a:ln cap="flat" cmpd="sng" w="25400">
            <a:solidFill>
              <a:srgbClr val="1C7293"/>
            </a:solidFill>
            <a:prstDash val="solid"/>
            <a:round/>
            <a:headEnd len="sm" w="sm" type="none"/>
            <a:tailEnd len="sm" w="sm" type="none"/>
          </a:ln>
        </p:spPr>
      </p:cxnSp>
      <p:sp>
        <p:nvSpPr>
          <p:cNvPr id="201" name="Google Shape;201;p12"/>
          <p:cNvSpPr/>
          <p:nvPr/>
        </p:nvSpPr>
        <p:spPr>
          <a:xfrm>
            <a:off x="915925" y="4559880"/>
            <a:ext cx="10360200" cy="320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FE3EE"/>
              </a:buClr>
              <a:buSzPts val="1100"/>
              <a:buFont typeface="Calibri"/>
              <a:buNone/>
            </a:pPr>
            <a:r>
              <a:rPr b="0" i="0" lang="en-US" sz="1300" u="none" cap="none" strike="noStrike">
                <a:solidFill>
                  <a:srgbClr val="CFE3EE"/>
                </a:solidFill>
                <a:latin typeface="Calibri"/>
                <a:ea typeface="Calibri"/>
                <a:cs typeface="Calibri"/>
                <a:sym typeface="Calibri"/>
              </a:rPr>
              <a:t>Lloyd Institute of Engineering &amp; Technology, Greater Noida</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